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Lst>
  <p:sldSz cy="6858000" cx="121889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2dce1b9a2_2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7" name="Google Shape;157;g3f2dce1b9a2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f2e60c906c_4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1" name="Google Shape;181;g3f2e60c906c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2dce1b9a2_2_1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3" name="Google Shape;203;g3f2dce1b9a2_2_1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f2dce1b9a2_2_1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3" name="Google Shape;253;g3f2dce1b9a2_2_16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f2e7e7a8fb_1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0" name="Google Shape;290;g3f2e7e7a8fb_1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f2dce1b9a2_2_2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8" name="Google Shape;308;g3f2dce1b9a2_2_2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f2e60c906c_6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0" name="Google Shape;340;g3f2e60c906c_6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6" name="Shape 86"/>
        <p:cNvGrpSpPr/>
        <p:nvPr/>
      </p:nvGrpSpPr>
      <p:grpSpPr>
        <a:xfrm>
          <a:off x="0" y="0"/>
          <a:ext cx="0" cy="0"/>
          <a:chOff x="0" y="0"/>
          <a:chExt cx="0" cy="0"/>
        </a:xfrm>
      </p:grpSpPr>
      <p:sp>
        <p:nvSpPr>
          <p:cNvPr id="87" name="Google Shape;8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0" name="Shape 90"/>
        <p:cNvGrpSpPr/>
        <p:nvPr/>
      </p:nvGrpSpPr>
      <p:grpSpPr>
        <a:xfrm>
          <a:off x="0" y="0"/>
          <a:ext cx="0" cy="0"/>
          <a:chOff x="0" y="0"/>
          <a:chExt cx="0" cy="0"/>
        </a:xfrm>
      </p:grpSpPr>
      <p:sp>
        <p:nvSpPr>
          <p:cNvPr id="91" name="Google Shape;91;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2" name="Google Shape;92;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3" name="Google Shape;93;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6" name="Shape 96"/>
        <p:cNvGrpSpPr/>
        <p:nvPr/>
      </p:nvGrpSpPr>
      <p:grpSpPr>
        <a:xfrm>
          <a:off x="0" y="0"/>
          <a:ext cx="0" cy="0"/>
          <a:chOff x="0" y="0"/>
          <a:chExt cx="0" cy="0"/>
        </a:xfrm>
      </p:grpSpPr>
      <p:sp>
        <p:nvSpPr>
          <p:cNvPr id="97" name="Google Shape;97;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8" name="Google Shape;98;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99" name="Google Shape;99;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2" name="Shape 102"/>
        <p:cNvGrpSpPr/>
        <p:nvPr/>
      </p:nvGrpSpPr>
      <p:grpSpPr>
        <a:xfrm>
          <a:off x="0" y="0"/>
          <a:ext cx="0" cy="0"/>
          <a:chOff x="0" y="0"/>
          <a:chExt cx="0" cy="0"/>
        </a:xfrm>
      </p:grpSpPr>
      <p:sp>
        <p:nvSpPr>
          <p:cNvPr id="103" name="Google Shape;103;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5" name="Google Shape;105;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6" name="Google Shape;106;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8" name="Shape 108"/>
        <p:cNvGrpSpPr/>
        <p:nvPr/>
      </p:nvGrpSpPr>
      <p:grpSpPr>
        <a:xfrm>
          <a:off x="0" y="0"/>
          <a:ext cx="0" cy="0"/>
          <a:chOff x="0" y="0"/>
          <a:chExt cx="0" cy="0"/>
        </a:xfrm>
      </p:grpSpPr>
      <p:sp>
        <p:nvSpPr>
          <p:cNvPr id="109" name="Google Shape;109;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0" name="Google Shape;110;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1" name="Google Shape;111;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5" name="Shape 115"/>
        <p:cNvGrpSpPr/>
        <p:nvPr/>
      </p:nvGrpSpPr>
      <p:grpSpPr>
        <a:xfrm>
          <a:off x="0" y="0"/>
          <a:ext cx="0" cy="0"/>
          <a:chOff x="0" y="0"/>
          <a:chExt cx="0" cy="0"/>
        </a:xfrm>
      </p:grpSpPr>
      <p:sp>
        <p:nvSpPr>
          <p:cNvPr id="116" name="Google Shape;11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8" name="Google Shape;118;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19" name="Google Shape;119;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0" name="Google Shape;120;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1" name="Google Shape;12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4" name="Shape 124"/>
        <p:cNvGrpSpPr/>
        <p:nvPr/>
      </p:nvGrpSpPr>
      <p:grpSpPr>
        <a:xfrm>
          <a:off x="0" y="0"/>
          <a:ext cx="0" cy="0"/>
          <a:chOff x="0" y="0"/>
          <a:chExt cx="0" cy="0"/>
        </a:xfrm>
      </p:grpSpPr>
      <p:sp>
        <p:nvSpPr>
          <p:cNvPr id="125" name="Google Shape;12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6" name="Google Shape;126;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9" name="Shape 129"/>
        <p:cNvGrpSpPr/>
        <p:nvPr/>
      </p:nvGrpSpPr>
      <p:grpSpPr>
        <a:xfrm>
          <a:off x="0" y="0"/>
          <a:ext cx="0" cy="0"/>
          <a:chOff x="0" y="0"/>
          <a:chExt cx="0" cy="0"/>
        </a:xfrm>
      </p:grpSpPr>
      <p:sp>
        <p:nvSpPr>
          <p:cNvPr id="130" name="Google Shape;130;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2" name="Google Shape;132;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3" name="Google Shape;133;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4" name="Google Shape;134;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6" name="Shape 136"/>
        <p:cNvGrpSpPr/>
        <p:nvPr/>
      </p:nvGrpSpPr>
      <p:grpSpPr>
        <a:xfrm>
          <a:off x="0" y="0"/>
          <a:ext cx="0" cy="0"/>
          <a:chOff x="0" y="0"/>
          <a:chExt cx="0" cy="0"/>
        </a:xfrm>
      </p:grpSpPr>
      <p:sp>
        <p:nvSpPr>
          <p:cNvPr id="137" name="Google Shape;137;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22"/>
          <p:cNvSpPr/>
          <p:nvPr>
            <p:ph idx="2" type="pic"/>
          </p:nvPr>
        </p:nvSpPr>
        <p:spPr>
          <a:xfrm>
            <a:off x="1792288" y="612775"/>
            <a:ext cx="5486400" cy="4114800"/>
          </a:xfrm>
          <a:prstGeom prst="rect">
            <a:avLst/>
          </a:prstGeom>
          <a:noFill/>
          <a:ln>
            <a:noFill/>
          </a:ln>
        </p:spPr>
      </p:sp>
      <p:sp>
        <p:nvSpPr>
          <p:cNvPr id="139" name="Google Shape;139;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0" name="Google Shape;14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3" name="Shape 143"/>
        <p:cNvGrpSpPr/>
        <p:nvPr/>
      </p:nvGrpSpPr>
      <p:grpSpPr>
        <a:xfrm>
          <a:off x="0" y="0"/>
          <a:ext cx="0" cy="0"/>
          <a:chOff x="0" y="0"/>
          <a:chExt cx="0" cy="0"/>
        </a:xfrm>
      </p:grpSpPr>
      <p:sp>
        <p:nvSpPr>
          <p:cNvPr id="144" name="Google Shape;14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6" name="Google Shape;146;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7" name="Google Shape;147;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49" name="Shape 149"/>
        <p:cNvGrpSpPr/>
        <p:nvPr/>
      </p:nvGrpSpPr>
      <p:grpSpPr>
        <a:xfrm>
          <a:off x="0" y="0"/>
          <a:ext cx="0" cy="0"/>
          <a:chOff x="0" y="0"/>
          <a:chExt cx="0" cy="0"/>
        </a:xfrm>
      </p:grpSpPr>
      <p:sp>
        <p:nvSpPr>
          <p:cNvPr id="150" name="Google Shape;150;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1" name="Google Shape;151;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2" name="Google Shape;15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3" name="Google Shape;15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0" name="Shape 80"/>
        <p:cNvGrpSpPr/>
        <p:nvPr/>
      </p:nvGrpSpPr>
      <p:grpSpPr>
        <a:xfrm>
          <a:off x="0" y="0"/>
          <a:ext cx="0" cy="0"/>
          <a:chOff x="0" y="0"/>
          <a:chExt cx="0" cy="0"/>
        </a:xfrm>
      </p:grpSpPr>
      <p:sp>
        <p:nvSpPr>
          <p:cNvPr id="81" name="Google Shape;81;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2" name="Google Shape;82;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3" name="Google Shape;83;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4" name="Google Shape;84;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5"/>
          <p:cNvSpPr/>
          <p:nvPr/>
        </p:nvSpPr>
        <p:spPr>
          <a:xfrm>
            <a:off x="0" y="0"/>
            <a:ext cx="12188952" cy="685800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 name="Google Shape;160;p25"/>
          <p:cNvSpPr/>
          <p:nvPr/>
        </p:nvSpPr>
        <p:spPr>
          <a:xfrm>
            <a:off x="8686800" y="0"/>
            <a:ext cx="3502152" cy="685800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 name="Google Shape;161;p25"/>
          <p:cNvSpPr/>
          <p:nvPr/>
        </p:nvSpPr>
        <p:spPr>
          <a:xfrm>
            <a:off x="8138160" y="0"/>
            <a:ext cx="109728" cy="6858000"/>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 name="Google Shape;162;p25"/>
          <p:cNvSpPr txBox="1"/>
          <p:nvPr/>
        </p:nvSpPr>
        <p:spPr>
          <a:xfrm>
            <a:off x="457200" y="1097280"/>
            <a:ext cx="8229600" cy="7315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FFFFFF"/>
                </a:solidFill>
                <a:latin typeface="Calibri"/>
                <a:ea typeface="Calibri"/>
                <a:cs typeface="Calibri"/>
                <a:sym typeface="Calibri"/>
              </a:rPr>
              <a:t>Data-Driven Analysis of</a:t>
            </a:r>
            <a:endParaRPr b="0" i="0" sz="1400" u="none" cap="none" strike="noStrike">
              <a:solidFill>
                <a:srgbClr val="000000"/>
              </a:solidFill>
              <a:latin typeface="Arial"/>
              <a:ea typeface="Arial"/>
              <a:cs typeface="Arial"/>
              <a:sym typeface="Arial"/>
            </a:endParaRPr>
          </a:p>
        </p:txBody>
      </p:sp>
      <p:sp>
        <p:nvSpPr>
          <p:cNvPr id="163" name="Google Shape;163;p25"/>
          <p:cNvSpPr txBox="1"/>
          <p:nvPr/>
        </p:nvSpPr>
        <p:spPr>
          <a:xfrm>
            <a:off x="457200" y="1737360"/>
            <a:ext cx="8229600" cy="7315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FFFFFF"/>
                </a:solidFill>
                <a:latin typeface="Calibri"/>
                <a:ea typeface="Calibri"/>
                <a:cs typeface="Calibri"/>
                <a:sym typeface="Calibri"/>
              </a:rPr>
              <a:t>Climate Change Indicators</a:t>
            </a:r>
            <a:endParaRPr b="0" i="0" sz="1400" u="none" cap="none" strike="noStrike">
              <a:solidFill>
                <a:srgbClr val="000000"/>
              </a:solidFill>
              <a:latin typeface="Arial"/>
              <a:ea typeface="Arial"/>
              <a:cs typeface="Arial"/>
              <a:sym typeface="Arial"/>
            </a:endParaRPr>
          </a:p>
        </p:txBody>
      </p:sp>
      <p:sp>
        <p:nvSpPr>
          <p:cNvPr id="164" name="Google Shape;164;p25"/>
          <p:cNvSpPr txBox="1"/>
          <p:nvPr/>
        </p:nvSpPr>
        <p:spPr>
          <a:xfrm>
            <a:off x="457200" y="2606040"/>
            <a:ext cx="8046720" cy="5486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1" lang="en-US" sz="1800" u="none" cap="none" strike="noStrike">
                <a:solidFill>
                  <a:srgbClr val="D6E8F7"/>
                </a:solidFill>
                <a:latin typeface="Calibri"/>
                <a:ea typeface="Calibri"/>
                <a:cs typeface="Calibri"/>
                <a:sym typeface="Calibri"/>
              </a:rPr>
              <a:t>A Multi-Layer Statistical Pipeline for Renewable Energy &amp; CO₂ Analysis</a:t>
            </a:r>
            <a:endParaRPr b="0" i="0" sz="1400" u="none" cap="none" strike="noStrike">
              <a:solidFill>
                <a:srgbClr val="000000"/>
              </a:solidFill>
              <a:latin typeface="Arial"/>
              <a:ea typeface="Arial"/>
              <a:cs typeface="Arial"/>
              <a:sym typeface="Arial"/>
            </a:endParaRPr>
          </a:p>
        </p:txBody>
      </p:sp>
      <p:sp>
        <p:nvSpPr>
          <p:cNvPr id="165" name="Google Shape;165;p25"/>
          <p:cNvSpPr/>
          <p:nvPr/>
        </p:nvSpPr>
        <p:spPr>
          <a:xfrm>
            <a:off x="457200" y="3337560"/>
            <a:ext cx="5029200" cy="54864"/>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 name="Google Shape;166;p25"/>
          <p:cNvSpPr txBox="1"/>
          <p:nvPr/>
        </p:nvSpPr>
        <p:spPr>
          <a:xfrm>
            <a:off x="457200" y="3520440"/>
            <a:ext cx="5029200" cy="7315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Alex Vartanian</a:t>
            </a:r>
            <a:br>
              <a:rPr b="0" i="0" lang="en-US" sz="1400" u="none" cap="none" strike="noStrike">
                <a:solidFill>
                  <a:srgbClr val="FFFFFF"/>
                </a:solidFill>
                <a:latin typeface="Calibri"/>
                <a:ea typeface="Calibri"/>
                <a:cs typeface="Calibri"/>
                <a:sym typeface="Calibri"/>
              </a:rPr>
            </a:br>
            <a:r>
              <a:rPr b="0" i="0" lang="en-US" sz="1400" u="none" cap="none" strike="noStrike">
                <a:solidFill>
                  <a:srgbClr val="FFFFFF"/>
                </a:solidFill>
                <a:latin typeface="Calibri"/>
                <a:ea typeface="Calibri"/>
                <a:cs typeface="Calibri"/>
                <a:sym typeface="Calibri"/>
              </a:rPr>
              <a:t>California State University Bakersfield</a:t>
            </a:r>
            <a:endParaRPr b="0" i="0" sz="1400" u="none" cap="none" strike="noStrike">
              <a:solidFill>
                <a:srgbClr val="000000"/>
              </a:solidFill>
              <a:latin typeface="Arial"/>
              <a:ea typeface="Arial"/>
              <a:cs typeface="Arial"/>
              <a:sym typeface="Arial"/>
            </a:endParaRPr>
          </a:p>
        </p:txBody>
      </p:sp>
      <p:sp>
        <p:nvSpPr>
          <p:cNvPr id="167" name="Google Shape;167;p25"/>
          <p:cNvSpPr txBox="1"/>
          <p:nvPr/>
        </p:nvSpPr>
        <p:spPr>
          <a:xfrm>
            <a:off x="457200" y="4251960"/>
            <a:ext cx="5029200" cy="7315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Ammar Abdelmoneam</a:t>
            </a:r>
            <a:br>
              <a:rPr b="0" i="0" lang="en-US" sz="1400" u="none" cap="none" strike="noStrike">
                <a:solidFill>
                  <a:srgbClr val="FFFFFF"/>
                </a:solidFill>
                <a:latin typeface="Calibri"/>
                <a:ea typeface="Calibri"/>
                <a:cs typeface="Calibri"/>
                <a:sym typeface="Calibri"/>
              </a:rPr>
            </a:br>
            <a:r>
              <a:rPr b="0" i="0" lang="en-US" sz="1400" u="none" cap="none" strike="noStrike">
                <a:solidFill>
                  <a:srgbClr val="FFFFFF"/>
                </a:solidFill>
                <a:latin typeface="Calibri"/>
                <a:ea typeface="Calibri"/>
                <a:cs typeface="Calibri"/>
                <a:sym typeface="Calibri"/>
              </a:rPr>
              <a:t>Antelope Valley College</a:t>
            </a:r>
            <a:endParaRPr b="0" i="0" sz="1400" u="none" cap="none" strike="noStrike">
              <a:solidFill>
                <a:srgbClr val="000000"/>
              </a:solidFill>
              <a:latin typeface="Arial"/>
              <a:ea typeface="Arial"/>
              <a:cs typeface="Arial"/>
              <a:sym typeface="Arial"/>
            </a:endParaRPr>
          </a:p>
        </p:txBody>
      </p:sp>
      <p:sp>
        <p:nvSpPr>
          <p:cNvPr id="168" name="Google Shape;168;p25"/>
          <p:cNvSpPr txBox="1"/>
          <p:nvPr/>
        </p:nvSpPr>
        <p:spPr>
          <a:xfrm>
            <a:off x="8915400" y="914400"/>
            <a:ext cx="3017520" cy="4114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At a Glance</a:t>
            </a:r>
            <a:endParaRPr b="0" i="0" sz="1400" u="none" cap="none" strike="noStrike">
              <a:solidFill>
                <a:srgbClr val="000000"/>
              </a:solidFill>
              <a:latin typeface="Arial"/>
              <a:ea typeface="Arial"/>
              <a:cs typeface="Arial"/>
              <a:sym typeface="Arial"/>
            </a:endParaRPr>
          </a:p>
        </p:txBody>
      </p:sp>
      <p:sp>
        <p:nvSpPr>
          <p:cNvPr id="169" name="Google Shape;169;p25"/>
          <p:cNvSpPr/>
          <p:nvPr/>
        </p:nvSpPr>
        <p:spPr>
          <a:xfrm>
            <a:off x="8915400" y="1325880"/>
            <a:ext cx="2834640" cy="36576"/>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0" name="Google Shape;170;p25"/>
          <p:cNvSpPr txBox="1"/>
          <p:nvPr/>
        </p:nvSpPr>
        <p:spPr>
          <a:xfrm>
            <a:off x="8915400" y="1508760"/>
            <a:ext cx="301752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en-US" sz="3600" u="none" cap="none" strike="noStrike">
                <a:solidFill>
                  <a:srgbClr val="27AE60"/>
                </a:solidFill>
                <a:latin typeface="Calibri"/>
                <a:ea typeface="Calibri"/>
                <a:cs typeface="Calibri"/>
                <a:sym typeface="Calibri"/>
              </a:rPr>
              <a:t>1,000</a:t>
            </a:r>
            <a:endParaRPr b="0" i="0" sz="1400" u="none" cap="none" strike="noStrike">
              <a:solidFill>
                <a:srgbClr val="000000"/>
              </a:solidFill>
              <a:latin typeface="Arial"/>
              <a:ea typeface="Arial"/>
              <a:cs typeface="Arial"/>
              <a:sym typeface="Arial"/>
            </a:endParaRPr>
          </a:p>
        </p:txBody>
      </p:sp>
      <p:sp>
        <p:nvSpPr>
          <p:cNvPr id="171" name="Google Shape;171;p25"/>
          <p:cNvSpPr txBox="1"/>
          <p:nvPr/>
        </p:nvSpPr>
        <p:spPr>
          <a:xfrm>
            <a:off x="8915400" y="2011680"/>
            <a:ext cx="301752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country-year</a:t>
            </a:r>
            <a:br>
              <a:rPr b="0" i="0" lang="en-US" sz="1200" u="none" cap="none" strike="noStrike">
                <a:solidFill>
                  <a:srgbClr val="D6E8F7"/>
                </a:solidFill>
                <a:latin typeface="Calibri"/>
                <a:ea typeface="Calibri"/>
                <a:cs typeface="Calibri"/>
                <a:sym typeface="Calibri"/>
              </a:rPr>
            </a:br>
            <a:r>
              <a:rPr b="0" i="0" lang="en-US" sz="1200" u="none" cap="none" strike="noStrike">
                <a:solidFill>
                  <a:srgbClr val="D6E8F7"/>
                </a:solidFill>
                <a:latin typeface="Calibri"/>
                <a:ea typeface="Calibri"/>
                <a:cs typeface="Calibri"/>
                <a:sym typeface="Calibri"/>
              </a:rPr>
              <a:t>observations</a:t>
            </a:r>
            <a:endParaRPr b="0" i="0" sz="1400" u="none" cap="none" strike="noStrike">
              <a:solidFill>
                <a:srgbClr val="000000"/>
              </a:solidFill>
              <a:latin typeface="Arial"/>
              <a:ea typeface="Arial"/>
              <a:cs typeface="Arial"/>
              <a:sym typeface="Arial"/>
            </a:endParaRPr>
          </a:p>
        </p:txBody>
      </p:sp>
      <p:sp>
        <p:nvSpPr>
          <p:cNvPr id="172" name="Google Shape;172;p25"/>
          <p:cNvSpPr txBox="1"/>
          <p:nvPr/>
        </p:nvSpPr>
        <p:spPr>
          <a:xfrm>
            <a:off x="8915400" y="2743200"/>
            <a:ext cx="301752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en-US" sz="3600" u="none" cap="none" strike="noStrike">
                <a:solidFill>
                  <a:srgbClr val="27AE6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
        <p:nvSpPr>
          <p:cNvPr id="173" name="Google Shape;173;p25"/>
          <p:cNvSpPr txBox="1"/>
          <p:nvPr/>
        </p:nvSpPr>
        <p:spPr>
          <a:xfrm>
            <a:off x="8915400" y="3246120"/>
            <a:ext cx="301752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countries</a:t>
            </a:r>
            <a:br>
              <a:rPr b="0" i="0" lang="en-US" sz="1200" u="none" cap="none" strike="noStrike">
                <a:solidFill>
                  <a:srgbClr val="D6E8F7"/>
                </a:solidFill>
                <a:latin typeface="Calibri"/>
                <a:ea typeface="Calibri"/>
                <a:cs typeface="Calibri"/>
                <a:sym typeface="Calibri"/>
              </a:rPr>
            </a:br>
            <a:r>
              <a:rPr b="0" i="0" lang="en-US" sz="1200" u="none" cap="none" strike="noStrike">
                <a:solidFill>
                  <a:srgbClr val="D6E8F7"/>
                </a:solidFill>
                <a:latin typeface="Calibri"/>
                <a:ea typeface="Calibri"/>
                <a:cs typeface="Calibri"/>
                <a:sym typeface="Calibri"/>
              </a:rPr>
              <a:t>covered</a:t>
            </a:r>
            <a:endParaRPr b="0" i="0" sz="1400" u="none" cap="none" strike="noStrike">
              <a:solidFill>
                <a:srgbClr val="000000"/>
              </a:solidFill>
              <a:latin typeface="Arial"/>
              <a:ea typeface="Arial"/>
              <a:cs typeface="Arial"/>
              <a:sym typeface="Arial"/>
            </a:endParaRPr>
          </a:p>
        </p:txBody>
      </p:sp>
      <p:sp>
        <p:nvSpPr>
          <p:cNvPr id="174" name="Google Shape;174;p25"/>
          <p:cNvSpPr txBox="1"/>
          <p:nvPr/>
        </p:nvSpPr>
        <p:spPr>
          <a:xfrm>
            <a:off x="8915400" y="3977639"/>
            <a:ext cx="301752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en-US" sz="3600" u="none" cap="none" strike="noStrike">
                <a:solidFill>
                  <a:srgbClr val="27AE60"/>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75" name="Google Shape;175;p25"/>
          <p:cNvSpPr txBox="1"/>
          <p:nvPr/>
        </p:nvSpPr>
        <p:spPr>
          <a:xfrm>
            <a:off x="8915400" y="4480559"/>
            <a:ext cx="301752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analytical</a:t>
            </a:r>
            <a:br>
              <a:rPr b="0" i="0" lang="en-US" sz="1200" u="none" cap="none" strike="noStrike">
                <a:solidFill>
                  <a:srgbClr val="D6E8F7"/>
                </a:solidFill>
                <a:latin typeface="Calibri"/>
                <a:ea typeface="Calibri"/>
                <a:cs typeface="Calibri"/>
                <a:sym typeface="Calibri"/>
              </a:rPr>
            </a:br>
            <a:r>
              <a:rPr b="0" i="0" lang="en-US" sz="1200" u="none" cap="none" strike="noStrike">
                <a:solidFill>
                  <a:srgbClr val="D6E8F7"/>
                </a:solidFill>
                <a:latin typeface="Calibri"/>
                <a:ea typeface="Calibri"/>
                <a:cs typeface="Calibri"/>
                <a:sym typeface="Calibri"/>
              </a:rPr>
              <a:t>layers</a:t>
            </a:r>
            <a:endParaRPr b="0" i="0" sz="1400" u="none" cap="none" strike="noStrike">
              <a:solidFill>
                <a:srgbClr val="000000"/>
              </a:solidFill>
              <a:latin typeface="Arial"/>
              <a:ea typeface="Arial"/>
              <a:cs typeface="Arial"/>
              <a:sym typeface="Arial"/>
            </a:endParaRPr>
          </a:p>
        </p:txBody>
      </p:sp>
      <p:sp>
        <p:nvSpPr>
          <p:cNvPr id="176" name="Google Shape;176;p25"/>
          <p:cNvSpPr txBox="1"/>
          <p:nvPr/>
        </p:nvSpPr>
        <p:spPr>
          <a:xfrm>
            <a:off x="8915400" y="5212080"/>
            <a:ext cx="301752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en-US" sz="3600" u="none" cap="none" strike="noStrike">
                <a:solidFill>
                  <a:srgbClr val="27AE60"/>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77" name="Google Shape;177;p25"/>
          <p:cNvSpPr txBox="1"/>
          <p:nvPr/>
        </p:nvSpPr>
        <p:spPr>
          <a:xfrm>
            <a:off x="8915400" y="5715000"/>
            <a:ext cx="301752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hypothesis</a:t>
            </a:r>
            <a:br>
              <a:rPr b="0" i="0" lang="en-US" sz="1200" u="none" cap="none" strike="noStrike">
                <a:solidFill>
                  <a:srgbClr val="D6E8F7"/>
                </a:solidFill>
                <a:latin typeface="Calibri"/>
                <a:ea typeface="Calibri"/>
                <a:cs typeface="Calibri"/>
                <a:sym typeface="Calibri"/>
              </a:rPr>
            </a:br>
            <a:r>
              <a:rPr b="0" i="0" lang="en-US" sz="1200" u="none" cap="none" strike="noStrike">
                <a:solidFill>
                  <a:srgbClr val="D6E8F7"/>
                </a:solidFill>
                <a:latin typeface="Calibri"/>
                <a:ea typeface="Calibri"/>
                <a:cs typeface="Calibri"/>
                <a:sym typeface="Calibri"/>
              </a:rPr>
              <a:t>tests</a:t>
            </a:r>
            <a:endParaRPr b="0" i="0" sz="1400" u="none" cap="none" strike="noStrike">
              <a:solidFill>
                <a:srgbClr val="000000"/>
              </a:solidFill>
              <a:latin typeface="Arial"/>
              <a:ea typeface="Arial"/>
              <a:cs typeface="Arial"/>
              <a:sym typeface="Arial"/>
            </a:endParaRPr>
          </a:p>
        </p:txBody>
      </p:sp>
      <p:sp>
        <p:nvSpPr>
          <p:cNvPr id="178" name="Google Shape;178;p25"/>
          <p:cNvSpPr txBox="1"/>
          <p:nvPr/>
        </p:nvSpPr>
        <p:spPr>
          <a:xfrm>
            <a:off x="457200" y="6263640"/>
            <a:ext cx="365760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7F8C8D"/>
                </a:solidFill>
                <a:latin typeface="Calibri"/>
                <a:ea typeface="Calibri"/>
                <a:cs typeface="Calibri"/>
                <a:sym typeface="Calibri"/>
              </a:rPr>
              <a:t>June 2026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6"/>
          <p:cNvSpPr/>
          <p:nvPr/>
        </p:nvSpPr>
        <p:spPr>
          <a:xfrm>
            <a:off x="0" y="0"/>
            <a:ext cx="12188952" cy="6858000"/>
          </a:xfrm>
          <a:prstGeom prst="rect">
            <a:avLst/>
          </a:prstGeom>
          <a:solidFill>
            <a:srgbClr val="F2F6F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4" name="Google Shape;184;p26"/>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5" name="Google Shape;185;p26"/>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Statistical Test Selection &amp; Rationale</a:t>
            </a:r>
            <a:endParaRPr b="0" i="0" sz="1400" u="none" cap="none" strike="noStrike">
              <a:solidFill>
                <a:srgbClr val="000000"/>
              </a:solidFill>
              <a:latin typeface="Arial"/>
              <a:ea typeface="Arial"/>
              <a:cs typeface="Arial"/>
              <a:sym typeface="Arial"/>
            </a:endParaRPr>
          </a:p>
        </p:txBody>
      </p:sp>
      <p:sp>
        <p:nvSpPr>
          <p:cNvPr id="186" name="Google Shape;186;p26"/>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Why did we choose each test and what does each one measure?</a:t>
            </a:r>
            <a:endParaRPr b="0" i="0" sz="1400" u="none" cap="none" strike="noStrike">
              <a:solidFill>
                <a:srgbClr val="000000"/>
              </a:solidFill>
              <a:latin typeface="Arial"/>
              <a:ea typeface="Arial"/>
              <a:cs typeface="Arial"/>
              <a:sym typeface="Arial"/>
            </a:endParaRPr>
          </a:p>
        </p:txBody>
      </p:sp>
      <p:sp>
        <p:nvSpPr>
          <p:cNvPr id="187" name="Google Shape;187;p26"/>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8" name="Google Shape;188;p26"/>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9" name="Google Shape;189;p26"/>
          <p:cNvSpPr txBox="1"/>
          <p:nvPr/>
        </p:nvSpPr>
        <p:spPr>
          <a:xfrm>
            <a:off x="182880" y="6583680"/>
            <a:ext cx="1179576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sp>
        <p:nvSpPr>
          <p:cNvPr id="190" name="Google Shape;190;p26"/>
          <p:cNvSpPr/>
          <p:nvPr/>
        </p:nvSpPr>
        <p:spPr>
          <a:xfrm>
            <a:off x="274325" y="1371600"/>
            <a:ext cx="5394900" cy="261060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1" name="Google Shape;191;p26"/>
          <p:cNvSpPr txBox="1"/>
          <p:nvPr/>
        </p:nvSpPr>
        <p:spPr>
          <a:xfrm>
            <a:off x="384048" y="1463040"/>
            <a:ext cx="521208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D2B4E"/>
                </a:solidFill>
                <a:latin typeface="Calibri"/>
                <a:ea typeface="Calibri"/>
                <a:cs typeface="Calibri"/>
                <a:sym typeface="Calibri"/>
              </a:rPr>
              <a:t>Tests for Relationships &amp; Trends</a:t>
            </a:r>
            <a:endParaRPr b="0" i="0" sz="1400" u="none" cap="none" strike="noStrike">
              <a:solidFill>
                <a:srgbClr val="000000"/>
              </a:solidFill>
              <a:latin typeface="Arial"/>
              <a:ea typeface="Arial"/>
              <a:cs typeface="Arial"/>
              <a:sym typeface="Arial"/>
            </a:endParaRPr>
          </a:p>
        </p:txBody>
      </p:sp>
      <p:sp>
        <p:nvSpPr>
          <p:cNvPr id="192" name="Google Shape;192;p26"/>
          <p:cNvSpPr/>
          <p:nvPr/>
        </p:nvSpPr>
        <p:spPr>
          <a:xfrm>
            <a:off x="384048" y="1810512"/>
            <a:ext cx="5175504" cy="27432"/>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3" name="Google Shape;193;p26"/>
          <p:cNvSpPr txBox="1"/>
          <p:nvPr/>
        </p:nvSpPr>
        <p:spPr>
          <a:xfrm>
            <a:off x="384048" y="1874519"/>
            <a:ext cx="5175600" cy="2832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Pearson Correlation — used when both variables are continuous (e.g. CO₂ vs Temperature). Measures the strength and direction of a linear relationship, giving us r and a p-value to test against α = 0.10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Linear Regression — used when we want to quantify a trend over time (e.g. temperature by year). The slope tells us the rate of change and the p-value tells us if that trend is statistically real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Welch's T-Test — used when comparing two groups with unequal variance (e.g. high vs low renewable countries). More reliable than a standard t-test when group sizes or spreads differ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One-Way ANOVA — used when comparing means across three or more groups (e.g. CO₂ across all 15 countries). A significant F-statistic means at least one country is different from the rest</a:t>
            </a:r>
            <a:endParaRPr b="0" i="0" sz="1400" u="none" cap="none" strike="noStrike">
              <a:solidFill>
                <a:srgbClr val="000000"/>
              </a:solidFill>
              <a:latin typeface="Arial"/>
              <a:ea typeface="Arial"/>
              <a:cs typeface="Arial"/>
              <a:sym typeface="Arial"/>
            </a:endParaRPr>
          </a:p>
        </p:txBody>
      </p:sp>
      <p:sp>
        <p:nvSpPr>
          <p:cNvPr id="194" name="Google Shape;194;p26"/>
          <p:cNvSpPr/>
          <p:nvPr/>
        </p:nvSpPr>
        <p:spPr>
          <a:xfrm>
            <a:off x="5943600" y="1371600"/>
            <a:ext cx="5943600" cy="261060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5" name="Google Shape;195;p26"/>
          <p:cNvSpPr txBox="1"/>
          <p:nvPr/>
        </p:nvSpPr>
        <p:spPr>
          <a:xfrm>
            <a:off x="6053328" y="1463040"/>
            <a:ext cx="576072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D2B4E"/>
                </a:solidFill>
                <a:latin typeface="Calibri"/>
                <a:ea typeface="Calibri"/>
                <a:cs typeface="Calibri"/>
                <a:sym typeface="Calibri"/>
              </a:rPr>
              <a:t>Tests for Variance, Groups &amp; Prediction</a:t>
            </a:r>
            <a:endParaRPr b="0" i="0" sz="1400" u="none" cap="none" strike="noStrike">
              <a:solidFill>
                <a:srgbClr val="000000"/>
              </a:solidFill>
              <a:latin typeface="Arial"/>
              <a:ea typeface="Arial"/>
              <a:cs typeface="Arial"/>
              <a:sym typeface="Arial"/>
            </a:endParaRPr>
          </a:p>
        </p:txBody>
      </p:sp>
      <p:sp>
        <p:nvSpPr>
          <p:cNvPr id="196" name="Google Shape;196;p26"/>
          <p:cNvSpPr/>
          <p:nvPr/>
        </p:nvSpPr>
        <p:spPr>
          <a:xfrm>
            <a:off x="6053328" y="1810512"/>
            <a:ext cx="5724144" cy="27432"/>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7" name="Google Shape;197;p26"/>
          <p:cNvSpPr txBox="1"/>
          <p:nvPr/>
        </p:nvSpPr>
        <p:spPr>
          <a:xfrm>
            <a:off x="6053328" y="1874519"/>
            <a:ext cx="5724144" cy="1828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Levene's Test — used to check whether the spread (variance) of a variable changed across time periods. Chosen because it does not assume normality, making it appropriate for real-world climate data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Multiple Linear Regression (MLR) — used when predicting one variable from several others simultaneously (e.g. predicting sea-level rise from CO₂ + rainfall + temperature). R² shows how much variance the model explains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KMeans Clustering — an unsupervised method that groups observations by similarity without being told the correct answer. Used as an independent check to see if the data naturally separates in the same way our hypothesis tests suggested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Significance Threshold α = 0.10 — set before any tests were run. At this level, we accept up to a 10% chance of a false positive, which is appropriate for exploratory research where the goal is generating hypotheses rather than confirming established theory</a:t>
            </a:r>
            <a:endParaRPr b="0" i="0" sz="1400" u="none" cap="none" strike="noStrike">
              <a:solidFill>
                <a:srgbClr val="000000"/>
              </a:solidFill>
              <a:latin typeface="Arial"/>
              <a:ea typeface="Arial"/>
              <a:cs typeface="Arial"/>
              <a:sym typeface="Arial"/>
            </a:endParaRPr>
          </a:p>
        </p:txBody>
      </p:sp>
      <p:sp>
        <p:nvSpPr>
          <p:cNvPr id="198" name="Google Shape;198;p26"/>
          <p:cNvSpPr/>
          <p:nvPr/>
        </p:nvSpPr>
        <p:spPr>
          <a:xfrm>
            <a:off x="274320" y="4023360"/>
            <a:ext cx="11612880" cy="2331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26"/>
          <p:cNvSpPr txBox="1"/>
          <p:nvPr/>
        </p:nvSpPr>
        <p:spPr>
          <a:xfrm>
            <a:off x="502920" y="4114800"/>
            <a:ext cx="64008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27AE60"/>
                </a:solidFill>
                <a:latin typeface="Calibri"/>
                <a:ea typeface="Calibri"/>
                <a:cs typeface="Calibri"/>
                <a:sym typeface="Calibri"/>
              </a:rPr>
              <a:t>How We Matched Each Question to the Right Test</a:t>
            </a:r>
            <a:endParaRPr b="0" i="0" sz="1400" u="none" cap="none" strike="noStrike">
              <a:solidFill>
                <a:srgbClr val="000000"/>
              </a:solidFill>
              <a:latin typeface="Arial"/>
              <a:ea typeface="Arial"/>
              <a:cs typeface="Arial"/>
              <a:sym typeface="Arial"/>
            </a:endParaRPr>
          </a:p>
        </p:txBody>
      </p:sp>
      <p:sp>
        <p:nvSpPr>
          <p:cNvPr id="200" name="Google Shape;200;p26"/>
          <p:cNvSpPr txBox="1"/>
          <p:nvPr/>
        </p:nvSpPr>
        <p:spPr>
          <a:xfrm>
            <a:off x="502920" y="4526280"/>
            <a:ext cx="11247120" cy="16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Each research question was assigned a test based on the type of data and what we were trying to find out. Questions about trends over time → OLS Regression. Questions comparing two groups → Welch's T-Test. Questions comparing many groups → ANOVA. Questions about the relationship between two continuous variables → Pearson Correlation. Questions about whether spread changed → Levene's Test. Questions predicting one variable from many → Multiple Linear Regression. Running the right test for the right question is what makes the results meaningful.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7"/>
          <p:cNvSpPr/>
          <p:nvPr/>
        </p:nvSpPr>
        <p:spPr>
          <a:xfrm>
            <a:off x="0" y="0"/>
            <a:ext cx="12188952" cy="6858000"/>
          </a:xfrm>
          <a:prstGeom prst="rect">
            <a:avLst/>
          </a:prstGeom>
          <a:solidFill>
            <a:srgbClr val="F2F6F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6" name="Google Shape;206;p27"/>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7" name="Google Shape;207;p27"/>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Dataset &amp; Data Pipeline</a:t>
            </a:r>
            <a:endParaRPr b="0" i="0" sz="1400" u="none" cap="none" strike="noStrike">
              <a:solidFill>
                <a:srgbClr val="000000"/>
              </a:solidFill>
              <a:latin typeface="Arial"/>
              <a:ea typeface="Arial"/>
              <a:cs typeface="Arial"/>
              <a:sym typeface="Arial"/>
            </a:endParaRPr>
          </a:p>
        </p:txBody>
      </p:sp>
      <p:sp>
        <p:nvSpPr>
          <p:cNvPr id="208" name="Google Shape;208;p27"/>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From flat CSV to verified relational schema</a:t>
            </a:r>
            <a:endParaRPr b="0" i="0" sz="1400" u="none" cap="none" strike="noStrike">
              <a:solidFill>
                <a:srgbClr val="000000"/>
              </a:solidFill>
              <a:latin typeface="Arial"/>
              <a:ea typeface="Arial"/>
              <a:cs typeface="Arial"/>
              <a:sym typeface="Arial"/>
            </a:endParaRPr>
          </a:p>
        </p:txBody>
      </p:sp>
      <p:sp>
        <p:nvSpPr>
          <p:cNvPr id="209" name="Google Shape;209;p27"/>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0" name="Google Shape;210;p27"/>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p27"/>
          <p:cNvSpPr txBox="1"/>
          <p:nvPr/>
        </p:nvSpPr>
        <p:spPr>
          <a:xfrm>
            <a:off x="182880" y="6583680"/>
            <a:ext cx="1179576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sp>
        <p:nvSpPr>
          <p:cNvPr id="212" name="Google Shape;212;p27"/>
          <p:cNvSpPr/>
          <p:nvPr/>
        </p:nvSpPr>
        <p:spPr>
          <a:xfrm>
            <a:off x="274320" y="1371600"/>
            <a:ext cx="2103120" cy="105156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3" name="Google Shape;213;p27"/>
          <p:cNvSpPr txBox="1"/>
          <p:nvPr/>
        </p:nvSpPr>
        <p:spPr>
          <a:xfrm>
            <a:off x="274320" y="1444752"/>
            <a:ext cx="210312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1,000</a:t>
            </a:r>
            <a:endParaRPr b="0" i="0" sz="1400" u="none" cap="none" strike="noStrike">
              <a:solidFill>
                <a:srgbClr val="000000"/>
              </a:solidFill>
              <a:latin typeface="Arial"/>
              <a:ea typeface="Arial"/>
              <a:cs typeface="Arial"/>
              <a:sym typeface="Arial"/>
            </a:endParaRPr>
          </a:p>
        </p:txBody>
      </p:sp>
      <p:sp>
        <p:nvSpPr>
          <p:cNvPr id="214" name="Google Shape;214;p27"/>
          <p:cNvSpPr txBox="1"/>
          <p:nvPr/>
        </p:nvSpPr>
        <p:spPr>
          <a:xfrm>
            <a:off x="274320" y="1965960"/>
            <a:ext cx="2103120" cy="34747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Observations</a:t>
            </a:r>
            <a:endParaRPr b="0" i="0" sz="1400" u="none" cap="none" strike="noStrike">
              <a:solidFill>
                <a:srgbClr val="000000"/>
              </a:solidFill>
              <a:latin typeface="Arial"/>
              <a:ea typeface="Arial"/>
              <a:cs typeface="Arial"/>
              <a:sym typeface="Arial"/>
            </a:endParaRPr>
          </a:p>
        </p:txBody>
      </p:sp>
      <p:sp>
        <p:nvSpPr>
          <p:cNvPr id="215" name="Google Shape;215;p27"/>
          <p:cNvSpPr/>
          <p:nvPr/>
        </p:nvSpPr>
        <p:spPr>
          <a:xfrm>
            <a:off x="2606039" y="1371600"/>
            <a:ext cx="2103120" cy="105156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6" name="Google Shape;216;p27"/>
          <p:cNvSpPr txBox="1"/>
          <p:nvPr/>
        </p:nvSpPr>
        <p:spPr>
          <a:xfrm>
            <a:off x="2606039" y="1444752"/>
            <a:ext cx="210312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
        <p:nvSpPr>
          <p:cNvPr id="217" name="Google Shape;217;p27"/>
          <p:cNvSpPr txBox="1"/>
          <p:nvPr/>
        </p:nvSpPr>
        <p:spPr>
          <a:xfrm>
            <a:off x="2606039" y="1965960"/>
            <a:ext cx="2103120" cy="34747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Countries</a:t>
            </a:r>
            <a:endParaRPr b="0" i="0" sz="1400" u="none" cap="none" strike="noStrike">
              <a:solidFill>
                <a:srgbClr val="000000"/>
              </a:solidFill>
              <a:latin typeface="Arial"/>
              <a:ea typeface="Arial"/>
              <a:cs typeface="Arial"/>
              <a:sym typeface="Arial"/>
            </a:endParaRPr>
          </a:p>
        </p:txBody>
      </p:sp>
      <p:sp>
        <p:nvSpPr>
          <p:cNvPr id="218" name="Google Shape;218;p27"/>
          <p:cNvSpPr/>
          <p:nvPr/>
        </p:nvSpPr>
        <p:spPr>
          <a:xfrm>
            <a:off x="4937759" y="1371600"/>
            <a:ext cx="2103120" cy="105156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9" name="Google Shape;219;p27"/>
          <p:cNvSpPr txBox="1"/>
          <p:nvPr/>
        </p:nvSpPr>
        <p:spPr>
          <a:xfrm>
            <a:off x="4937759" y="1444752"/>
            <a:ext cx="210312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
        <p:nvSpPr>
          <p:cNvPr id="220" name="Google Shape;220;p27"/>
          <p:cNvSpPr txBox="1"/>
          <p:nvPr/>
        </p:nvSpPr>
        <p:spPr>
          <a:xfrm>
            <a:off x="4937759" y="1965960"/>
            <a:ext cx="2103120" cy="34747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Variables</a:t>
            </a:r>
            <a:endParaRPr b="0" i="0" sz="1400" u="none" cap="none" strike="noStrike">
              <a:solidFill>
                <a:srgbClr val="000000"/>
              </a:solidFill>
              <a:latin typeface="Arial"/>
              <a:ea typeface="Arial"/>
              <a:cs typeface="Arial"/>
              <a:sym typeface="Arial"/>
            </a:endParaRPr>
          </a:p>
        </p:txBody>
      </p:sp>
      <p:sp>
        <p:nvSpPr>
          <p:cNvPr id="221" name="Google Shape;221;p27"/>
          <p:cNvSpPr/>
          <p:nvPr/>
        </p:nvSpPr>
        <p:spPr>
          <a:xfrm>
            <a:off x="7269479" y="1371600"/>
            <a:ext cx="2103120" cy="105156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2" name="Google Shape;222;p27"/>
          <p:cNvSpPr txBox="1"/>
          <p:nvPr/>
        </p:nvSpPr>
        <p:spPr>
          <a:xfrm>
            <a:off x="7269479" y="1444752"/>
            <a:ext cx="210312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223" name="Google Shape;223;p27"/>
          <p:cNvSpPr txBox="1"/>
          <p:nvPr/>
        </p:nvSpPr>
        <p:spPr>
          <a:xfrm>
            <a:off x="7269479" y="1965960"/>
            <a:ext cx="2103120" cy="34747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Missing Values</a:t>
            </a:r>
            <a:endParaRPr b="0" i="0" sz="1400" u="none" cap="none" strike="noStrike">
              <a:solidFill>
                <a:srgbClr val="000000"/>
              </a:solidFill>
              <a:latin typeface="Arial"/>
              <a:ea typeface="Arial"/>
              <a:cs typeface="Arial"/>
              <a:sym typeface="Arial"/>
            </a:endParaRPr>
          </a:p>
        </p:txBody>
      </p:sp>
      <p:sp>
        <p:nvSpPr>
          <p:cNvPr id="224" name="Google Shape;224;p27"/>
          <p:cNvSpPr/>
          <p:nvPr/>
        </p:nvSpPr>
        <p:spPr>
          <a:xfrm>
            <a:off x="9601200" y="1371600"/>
            <a:ext cx="2103120" cy="105156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5" name="Google Shape;225;p27"/>
          <p:cNvSpPr txBox="1"/>
          <p:nvPr/>
        </p:nvSpPr>
        <p:spPr>
          <a:xfrm>
            <a:off x="9601200" y="1444752"/>
            <a:ext cx="210312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226" name="Google Shape;226;p27"/>
          <p:cNvSpPr txBox="1"/>
          <p:nvPr/>
        </p:nvSpPr>
        <p:spPr>
          <a:xfrm>
            <a:off x="9601200" y="1965960"/>
            <a:ext cx="2103120" cy="34747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D6E8F7"/>
                </a:solidFill>
                <a:latin typeface="Calibri"/>
                <a:ea typeface="Calibri"/>
                <a:cs typeface="Calibri"/>
                <a:sym typeface="Calibri"/>
              </a:rPr>
              <a:t>FK Violations</a:t>
            </a:r>
            <a:endParaRPr b="0" i="0" sz="1400" u="none" cap="none" strike="noStrike">
              <a:solidFill>
                <a:srgbClr val="000000"/>
              </a:solidFill>
              <a:latin typeface="Arial"/>
              <a:ea typeface="Arial"/>
              <a:cs typeface="Arial"/>
              <a:sym typeface="Arial"/>
            </a:endParaRPr>
          </a:p>
        </p:txBody>
      </p:sp>
      <p:sp>
        <p:nvSpPr>
          <p:cNvPr id="227" name="Google Shape;227;p27"/>
          <p:cNvSpPr txBox="1"/>
          <p:nvPr/>
        </p:nvSpPr>
        <p:spPr>
          <a:xfrm>
            <a:off x="274320" y="2606040"/>
            <a:ext cx="36576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D2B4E"/>
                </a:solidFill>
                <a:latin typeface="Calibri"/>
                <a:ea typeface="Calibri"/>
                <a:cs typeface="Calibri"/>
                <a:sym typeface="Calibri"/>
              </a:rPr>
              <a:t>Data Pipeline</a:t>
            </a:r>
            <a:endParaRPr b="0" i="0" sz="1400" u="none" cap="none" strike="noStrike">
              <a:solidFill>
                <a:srgbClr val="000000"/>
              </a:solidFill>
              <a:latin typeface="Arial"/>
              <a:ea typeface="Arial"/>
              <a:cs typeface="Arial"/>
              <a:sym typeface="Arial"/>
            </a:endParaRPr>
          </a:p>
        </p:txBody>
      </p:sp>
      <p:sp>
        <p:nvSpPr>
          <p:cNvPr id="228" name="Google Shape;228;p27"/>
          <p:cNvSpPr/>
          <p:nvPr/>
        </p:nvSpPr>
        <p:spPr>
          <a:xfrm>
            <a:off x="274320" y="3017520"/>
            <a:ext cx="2011680" cy="100584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9" name="Google Shape;229;p27"/>
          <p:cNvSpPr txBox="1"/>
          <p:nvPr/>
        </p:nvSpPr>
        <p:spPr>
          <a:xfrm>
            <a:off x="274320" y="3044952"/>
            <a:ext cx="43891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27AE60"/>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230" name="Google Shape;230;p27"/>
          <p:cNvSpPr txBox="1"/>
          <p:nvPr/>
        </p:nvSpPr>
        <p:spPr>
          <a:xfrm>
            <a:off x="685800" y="3044952"/>
            <a:ext cx="1508760" cy="914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FFFFFF"/>
                </a:solidFill>
                <a:latin typeface="Calibri"/>
                <a:ea typeface="Calibri"/>
                <a:cs typeface="Calibri"/>
                <a:sym typeface="Calibri"/>
              </a:rPr>
              <a:t>Raw CSV</a:t>
            </a:r>
            <a:br>
              <a:rPr b="0" i="0" lang="en-US" sz="1050" u="none" cap="none" strike="noStrike">
                <a:solidFill>
                  <a:srgbClr val="FFFFFF"/>
                </a:solidFill>
                <a:latin typeface="Calibri"/>
                <a:ea typeface="Calibri"/>
                <a:cs typeface="Calibri"/>
                <a:sym typeface="Calibri"/>
              </a:rPr>
            </a:br>
            <a:r>
              <a:rPr b="0" i="0" lang="en-US" sz="1050" u="none" cap="none" strike="noStrike">
                <a:solidFill>
                  <a:srgbClr val="FFFFFF"/>
                </a:solidFill>
                <a:latin typeface="Calibri"/>
                <a:ea typeface="Calibri"/>
                <a:cs typeface="Calibri"/>
                <a:sym typeface="Calibri"/>
              </a:rPr>
              <a:t>climate_change_dataset.csv</a:t>
            </a:r>
            <a:endParaRPr b="0" i="0" sz="1400" u="none" cap="none" strike="noStrike">
              <a:solidFill>
                <a:srgbClr val="000000"/>
              </a:solidFill>
              <a:latin typeface="Arial"/>
              <a:ea typeface="Arial"/>
              <a:cs typeface="Arial"/>
              <a:sym typeface="Arial"/>
            </a:endParaRPr>
          </a:p>
        </p:txBody>
      </p:sp>
      <p:sp>
        <p:nvSpPr>
          <p:cNvPr id="231" name="Google Shape;231;p27"/>
          <p:cNvSpPr txBox="1"/>
          <p:nvPr/>
        </p:nvSpPr>
        <p:spPr>
          <a:xfrm>
            <a:off x="2286000" y="3337560"/>
            <a:ext cx="320040" cy="4114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1A579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32" name="Google Shape;232;p27"/>
          <p:cNvSpPr/>
          <p:nvPr/>
        </p:nvSpPr>
        <p:spPr>
          <a:xfrm>
            <a:off x="2606039" y="3017520"/>
            <a:ext cx="2011680" cy="100584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3" name="Google Shape;233;p27"/>
          <p:cNvSpPr txBox="1"/>
          <p:nvPr/>
        </p:nvSpPr>
        <p:spPr>
          <a:xfrm>
            <a:off x="2606039" y="3044952"/>
            <a:ext cx="43891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27AE6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234" name="Google Shape;234;p27"/>
          <p:cNvSpPr txBox="1"/>
          <p:nvPr/>
        </p:nvSpPr>
        <p:spPr>
          <a:xfrm>
            <a:off x="3017520" y="3044952"/>
            <a:ext cx="1508760" cy="914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FFFFFF"/>
                </a:solidFill>
                <a:latin typeface="Calibri"/>
                <a:ea typeface="Calibri"/>
                <a:cs typeface="Calibri"/>
                <a:sym typeface="Calibri"/>
              </a:rPr>
              <a:t>SQLite 3NF Schema</a:t>
            </a:r>
            <a:br>
              <a:rPr b="0" i="0" lang="en-US" sz="1050" u="none" cap="none" strike="noStrike">
                <a:solidFill>
                  <a:srgbClr val="FFFFFF"/>
                </a:solidFill>
                <a:latin typeface="Calibri"/>
                <a:ea typeface="Calibri"/>
                <a:cs typeface="Calibri"/>
                <a:sym typeface="Calibri"/>
              </a:rPr>
            </a:br>
            <a:r>
              <a:rPr b="0" i="0" lang="en-US" sz="1050" u="none" cap="none" strike="noStrike">
                <a:solidFill>
                  <a:srgbClr val="FFFFFF"/>
                </a:solidFill>
                <a:latin typeface="Calibri"/>
                <a:ea typeface="Calibri"/>
                <a:cs typeface="Calibri"/>
                <a:sym typeface="Calibri"/>
              </a:rPr>
              <a:t>countries + climate_data tables</a:t>
            </a:r>
            <a:endParaRPr b="0" i="0" sz="1400" u="none" cap="none" strike="noStrike">
              <a:solidFill>
                <a:srgbClr val="000000"/>
              </a:solidFill>
              <a:latin typeface="Arial"/>
              <a:ea typeface="Arial"/>
              <a:cs typeface="Arial"/>
              <a:sym typeface="Arial"/>
            </a:endParaRPr>
          </a:p>
        </p:txBody>
      </p:sp>
      <p:sp>
        <p:nvSpPr>
          <p:cNvPr id="235" name="Google Shape;235;p27"/>
          <p:cNvSpPr txBox="1"/>
          <p:nvPr/>
        </p:nvSpPr>
        <p:spPr>
          <a:xfrm>
            <a:off x="4617720" y="3337560"/>
            <a:ext cx="320040" cy="4114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1A579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36" name="Google Shape;236;p27"/>
          <p:cNvSpPr/>
          <p:nvPr/>
        </p:nvSpPr>
        <p:spPr>
          <a:xfrm>
            <a:off x="4937759" y="3017520"/>
            <a:ext cx="2011680" cy="100584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7" name="Google Shape;237;p27"/>
          <p:cNvSpPr txBox="1"/>
          <p:nvPr/>
        </p:nvSpPr>
        <p:spPr>
          <a:xfrm>
            <a:off x="4937759" y="3044952"/>
            <a:ext cx="43891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27AE6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238" name="Google Shape;238;p27"/>
          <p:cNvSpPr txBox="1"/>
          <p:nvPr/>
        </p:nvSpPr>
        <p:spPr>
          <a:xfrm>
            <a:off x="5349240" y="3044952"/>
            <a:ext cx="1508760" cy="914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FFFFFF"/>
                </a:solidFill>
                <a:latin typeface="Calibri"/>
                <a:ea typeface="Calibri"/>
                <a:cs typeface="Calibri"/>
                <a:sym typeface="Calibri"/>
              </a:rPr>
              <a:t>Constraint Checks</a:t>
            </a:r>
            <a:br>
              <a:rPr b="0" i="0" lang="en-US" sz="1050" u="none" cap="none" strike="noStrike">
                <a:solidFill>
                  <a:srgbClr val="FFFFFF"/>
                </a:solidFill>
                <a:latin typeface="Calibri"/>
                <a:ea typeface="Calibri"/>
                <a:cs typeface="Calibri"/>
                <a:sym typeface="Calibri"/>
              </a:rPr>
            </a:br>
            <a:r>
              <a:rPr b="0" i="0" lang="en-US" sz="1050" u="none" cap="none" strike="noStrike">
                <a:solidFill>
                  <a:srgbClr val="FFFFFF"/>
                </a:solidFill>
                <a:latin typeface="Calibri"/>
                <a:ea typeface="Calibri"/>
                <a:cs typeface="Calibri"/>
                <a:sym typeface="Calibri"/>
              </a:rPr>
              <a:t>UNIQUE, FK, CHECK constraints</a:t>
            </a:r>
            <a:endParaRPr b="0" i="0" sz="1400" u="none" cap="none" strike="noStrike">
              <a:solidFill>
                <a:srgbClr val="000000"/>
              </a:solidFill>
              <a:latin typeface="Arial"/>
              <a:ea typeface="Arial"/>
              <a:cs typeface="Arial"/>
              <a:sym typeface="Arial"/>
            </a:endParaRPr>
          </a:p>
        </p:txBody>
      </p:sp>
      <p:sp>
        <p:nvSpPr>
          <p:cNvPr id="239" name="Google Shape;239;p27"/>
          <p:cNvSpPr txBox="1"/>
          <p:nvPr/>
        </p:nvSpPr>
        <p:spPr>
          <a:xfrm>
            <a:off x="6949440" y="3337560"/>
            <a:ext cx="320040" cy="4114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1A579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40" name="Google Shape;240;p27"/>
          <p:cNvSpPr/>
          <p:nvPr/>
        </p:nvSpPr>
        <p:spPr>
          <a:xfrm>
            <a:off x="7269479" y="3017520"/>
            <a:ext cx="2011680" cy="100584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1" name="Google Shape;241;p27"/>
          <p:cNvSpPr txBox="1"/>
          <p:nvPr/>
        </p:nvSpPr>
        <p:spPr>
          <a:xfrm>
            <a:off x="7269479" y="3044952"/>
            <a:ext cx="43891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27AE60"/>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242" name="Google Shape;242;p27"/>
          <p:cNvSpPr txBox="1"/>
          <p:nvPr/>
        </p:nvSpPr>
        <p:spPr>
          <a:xfrm>
            <a:off x="7680959" y="3044952"/>
            <a:ext cx="1508760" cy="914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FFFFFF"/>
                </a:solidFill>
                <a:latin typeface="Calibri"/>
                <a:ea typeface="Calibri"/>
                <a:cs typeface="Calibri"/>
                <a:sym typeface="Calibri"/>
              </a:rPr>
              <a:t>Verification</a:t>
            </a:r>
            <a:br>
              <a:rPr b="0" i="0" lang="en-US" sz="1050" u="none" cap="none" strike="noStrike">
                <a:solidFill>
                  <a:srgbClr val="FFFFFF"/>
                </a:solidFill>
                <a:latin typeface="Calibri"/>
                <a:ea typeface="Calibri"/>
                <a:cs typeface="Calibri"/>
                <a:sym typeface="Calibri"/>
              </a:rPr>
            </a:br>
            <a:r>
              <a:rPr b="0" i="0" lang="en-US" sz="1050" u="none" cap="none" strike="noStrike">
                <a:solidFill>
                  <a:srgbClr val="FFFFFF"/>
                </a:solidFill>
                <a:latin typeface="Calibri"/>
                <a:ea typeface="Calibri"/>
                <a:cs typeface="Calibri"/>
                <a:sym typeface="Calibri"/>
              </a:rPr>
              <a:t>verify.sql — zero violations</a:t>
            </a:r>
            <a:endParaRPr b="0" i="0" sz="1400" u="none" cap="none" strike="noStrike">
              <a:solidFill>
                <a:srgbClr val="000000"/>
              </a:solidFill>
              <a:latin typeface="Arial"/>
              <a:ea typeface="Arial"/>
              <a:cs typeface="Arial"/>
              <a:sym typeface="Arial"/>
            </a:endParaRPr>
          </a:p>
        </p:txBody>
      </p:sp>
      <p:sp>
        <p:nvSpPr>
          <p:cNvPr id="243" name="Google Shape;243;p27"/>
          <p:cNvSpPr txBox="1"/>
          <p:nvPr/>
        </p:nvSpPr>
        <p:spPr>
          <a:xfrm>
            <a:off x="9281159" y="3337560"/>
            <a:ext cx="320040" cy="4114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1A579E"/>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44" name="Google Shape;244;p27"/>
          <p:cNvSpPr/>
          <p:nvPr/>
        </p:nvSpPr>
        <p:spPr>
          <a:xfrm>
            <a:off x="9601200" y="3017520"/>
            <a:ext cx="2011680" cy="1005840"/>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5" name="Google Shape;245;p27"/>
          <p:cNvSpPr txBox="1"/>
          <p:nvPr/>
        </p:nvSpPr>
        <p:spPr>
          <a:xfrm>
            <a:off x="9601200" y="3044952"/>
            <a:ext cx="43891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246" name="Google Shape;246;p27"/>
          <p:cNvSpPr txBox="1"/>
          <p:nvPr/>
        </p:nvSpPr>
        <p:spPr>
          <a:xfrm>
            <a:off x="10012680" y="3044952"/>
            <a:ext cx="1508760" cy="914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FFFFFF"/>
                </a:solidFill>
                <a:latin typeface="Calibri"/>
                <a:ea typeface="Calibri"/>
                <a:cs typeface="Calibri"/>
                <a:sym typeface="Calibri"/>
              </a:rPr>
              <a:t>Analysis-Ready</a:t>
            </a:r>
            <a:br>
              <a:rPr b="0" i="0" lang="en-US" sz="1050" u="none" cap="none" strike="noStrike">
                <a:solidFill>
                  <a:srgbClr val="FFFFFF"/>
                </a:solidFill>
                <a:latin typeface="Calibri"/>
                <a:ea typeface="Calibri"/>
                <a:cs typeface="Calibri"/>
                <a:sym typeface="Calibri"/>
              </a:rPr>
            </a:br>
            <a:r>
              <a:rPr b="0" i="0" lang="en-US" sz="1050" u="none" cap="none" strike="noStrike">
                <a:solidFill>
                  <a:srgbClr val="FFFFFF"/>
                </a:solidFill>
                <a:latin typeface="Calibri"/>
                <a:ea typeface="Calibri"/>
                <a:cs typeface="Calibri"/>
                <a:sym typeface="Calibri"/>
              </a:rPr>
              <a:t>Notebook loads clean data</a:t>
            </a:r>
            <a:endParaRPr b="0" i="0" sz="1400" u="none" cap="none" strike="noStrike">
              <a:solidFill>
                <a:srgbClr val="000000"/>
              </a:solidFill>
              <a:latin typeface="Arial"/>
              <a:ea typeface="Arial"/>
              <a:cs typeface="Arial"/>
              <a:sym typeface="Arial"/>
            </a:endParaRPr>
          </a:p>
        </p:txBody>
      </p:sp>
      <p:sp>
        <p:nvSpPr>
          <p:cNvPr id="247" name="Google Shape;247;p27"/>
          <p:cNvSpPr/>
          <p:nvPr/>
        </p:nvSpPr>
        <p:spPr>
          <a:xfrm>
            <a:off x="274320" y="4187952"/>
            <a:ext cx="11612880" cy="237744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8" name="Google Shape;248;p27"/>
          <p:cNvSpPr txBox="1"/>
          <p:nvPr/>
        </p:nvSpPr>
        <p:spPr>
          <a:xfrm>
            <a:off x="384048" y="4279392"/>
            <a:ext cx="114300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D2B4E"/>
                </a:solidFill>
                <a:latin typeface="Calibri"/>
                <a:ea typeface="Calibri"/>
                <a:cs typeface="Calibri"/>
                <a:sym typeface="Calibri"/>
              </a:rPr>
              <a:t>Dataset Variables</a:t>
            </a:r>
            <a:endParaRPr b="0" i="0" sz="1400" u="none" cap="none" strike="noStrike">
              <a:solidFill>
                <a:srgbClr val="000000"/>
              </a:solidFill>
              <a:latin typeface="Arial"/>
              <a:ea typeface="Arial"/>
              <a:cs typeface="Arial"/>
              <a:sym typeface="Arial"/>
            </a:endParaRPr>
          </a:p>
        </p:txBody>
      </p:sp>
      <p:sp>
        <p:nvSpPr>
          <p:cNvPr id="249" name="Google Shape;249;p27"/>
          <p:cNvSpPr/>
          <p:nvPr/>
        </p:nvSpPr>
        <p:spPr>
          <a:xfrm>
            <a:off x="384048" y="4626864"/>
            <a:ext cx="11393424" cy="27432"/>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0" name="Google Shape;250;p27"/>
          <p:cNvSpPr txBox="1"/>
          <p:nvPr/>
        </p:nvSpPr>
        <p:spPr>
          <a:xfrm>
            <a:off x="384048" y="4690872"/>
            <a:ext cx="11393424" cy="17373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Year (2000–2023)  |  Country (15 nations)  |  Avg Temperature (°C)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CO₂ Emissions (Tons/Capita)  |  Sea Level Rise (mm)  |  Rainfall (mm)  |  Population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Renewable Energy (%)  |  Extreme Weather Events  |  Forest Area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Derived: CO₂ Tier (Low/Medium/High)  |  Climate Risk Score (composite z-score)  |  Time Period bins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8"/>
          <p:cNvSpPr/>
          <p:nvPr/>
        </p:nvSpPr>
        <p:spPr>
          <a:xfrm>
            <a:off x="0" y="0"/>
            <a:ext cx="12188952" cy="6858000"/>
          </a:xfrm>
          <a:prstGeom prst="rect">
            <a:avLst/>
          </a:prstGeom>
          <a:solidFill>
            <a:srgbClr val="F2F6F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p28"/>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p28"/>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Methodology</a:t>
            </a:r>
            <a:endParaRPr b="0" i="0" sz="1400" u="none" cap="none" strike="noStrike">
              <a:solidFill>
                <a:srgbClr val="000000"/>
              </a:solidFill>
              <a:latin typeface="Arial"/>
              <a:ea typeface="Arial"/>
              <a:cs typeface="Arial"/>
              <a:sym typeface="Arial"/>
            </a:endParaRPr>
          </a:p>
        </p:txBody>
      </p:sp>
      <p:sp>
        <p:nvSpPr>
          <p:cNvPr id="258" name="Google Shape;258;p28"/>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Five analytical layers — each adds a distinct form of evidence</a:t>
            </a:r>
            <a:endParaRPr b="0" i="0" sz="1400" u="none" cap="none" strike="noStrike">
              <a:solidFill>
                <a:srgbClr val="000000"/>
              </a:solidFill>
              <a:latin typeface="Arial"/>
              <a:ea typeface="Arial"/>
              <a:cs typeface="Arial"/>
              <a:sym typeface="Arial"/>
            </a:endParaRPr>
          </a:p>
        </p:txBody>
      </p:sp>
      <p:sp>
        <p:nvSpPr>
          <p:cNvPr id="259" name="Google Shape;259;p28"/>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0" name="Google Shape;260;p28"/>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p28"/>
          <p:cNvSpPr txBox="1"/>
          <p:nvPr/>
        </p:nvSpPr>
        <p:spPr>
          <a:xfrm>
            <a:off x="182880" y="6583680"/>
            <a:ext cx="1179576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sp>
        <p:nvSpPr>
          <p:cNvPr id="262" name="Google Shape;262;p28"/>
          <p:cNvSpPr/>
          <p:nvPr/>
        </p:nvSpPr>
        <p:spPr>
          <a:xfrm>
            <a:off x="182880" y="1371600"/>
            <a:ext cx="2267712" cy="50292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3" name="Google Shape;263;p28"/>
          <p:cNvSpPr txBox="1"/>
          <p:nvPr/>
        </p:nvSpPr>
        <p:spPr>
          <a:xfrm>
            <a:off x="256032" y="1389888"/>
            <a:ext cx="21031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Layer 1</a:t>
            </a:r>
            <a:endParaRPr b="0" i="0" sz="1400" u="none" cap="none" strike="noStrike">
              <a:solidFill>
                <a:srgbClr val="000000"/>
              </a:solidFill>
              <a:latin typeface="Arial"/>
              <a:ea typeface="Arial"/>
              <a:cs typeface="Arial"/>
              <a:sym typeface="Arial"/>
            </a:endParaRPr>
          </a:p>
        </p:txBody>
      </p:sp>
      <p:sp>
        <p:nvSpPr>
          <p:cNvPr id="264" name="Google Shape;264;p28"/>
          <p:cNvSpPr txBox="1"/>
          <p:nvPr/>
        </p:nvSpPr>
        <p:spPr>
          <a:xfrm>
            <a:off x="256032" y="1627632"/>
            <a:ext cx="210312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Data Integrity</a:t>
            </a:r>
            <a:endParaRPr b="0" i="0" sz="1400" u="none" cap="none" strike="noStrike">
              <a:solidFill>
                <a:srgbClr val="000000"/>
              </a:solidFill>
              <a:latin typeface="Arial"/>
              <a:ea typeface="Arial"/>
              <a:cs typeface="Arial"/>
              <a:sym typeface="Arial"/>
            </a:endParaRPr>
          </a:p>
        </p:txBody>
      </p:sp>
      <p:sp>
        <p:nvSpPr>
          <p:cNvPr id="265" name="Google Shape;265;p28"/>
          <p:cNvSpPr/>
          <p:nvPr/>
        </p:nvSpPr>
        <p:spPr>
          <a:xfrm>
            <a:off x="182880" y="1920240"/>
            <a:ext cx="2267712" cy="406908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6" name="Google Shape;266;p28"/>
          <p:cNvSpPr txBox="1"/>
          <p:nvPr/>
        </p:nvSpPr>
        <p:spPr>
          <a:xfrm>
            <a:off x="292608" y="2011680"/>
            <a:ext cx="2029968" cy="3840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3NF SQLite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FK + UNIQUE constraints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CHECK on numeric ranges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verify.sql pre-check</a:t>
            </a:r>
            <a:endParaRPr b="0" i="0" sz="1400" u="none" cap="none" strike="noStrike">
              <a:solidFill>
                <a:srgbClr val="000000"/>
              </a:solidFill>
              <a:latin typeface="Arial"/>
              <a:ea typeface="Arial"/>
              <a:cs typeface="Arial"/>
              <a:sym typeface="Arial"/>
            </a:endParaRPr>
          </a:p>
        </p:txBody>
      </p:sp>
      <p:sp>
        <p:nvSpPr>
          <p:cNvPr id="267" name="Google Shape;267;p28"/>
          <p:cNvSpPr/>
          <p:nvPr/>
        </p:nvSpPr>
        <p:spPr>
          <a:xfrm>
            <a:off x="2587752" y="1371600"/>
            <a:ext cx="2267712" cy="5029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8" name="Google Shape;268;p28"/>
          <p:cNvSpPr txBox="1"/>
          <p:nvPr/>
        </p:nvSpPr>
        <p:spPr>
          <a:xfrm>
            <a:off x="2660904" y="1389888"/>
            <a:ext cx="21031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Layer 2</a:t>
            </a:r>
            <a:endParaRPr b="0" i="0" sz="1400" u="none" cap="none" strike="noStrike">
              <a:solidFill>
                <a:srgbClr val="000000"/>
              </a:solidFill>
              <a:latin typeface="Arial"/>
              <a:ea typeface="Arial"/>
              <a:cs typeface="Arial"/>
              <a:sym typeface="Arial"/>
            </a:endParaRPr>
          </a:p>
        </p:txBody>
      </p:sp>
      <p:sp>
        <p:nvSpPr>
          <p:cNvPr id="269" name="Google Shape;269;p28"/>
          <p:cNvSpPr txBox="1"/>
          <p:nvPr/>
        </p:nvSpPr>
        <p:spPr>
          <a:xfrm>
            <a:off x="2660904" y="1627632"/>
            <a:ext cx="210312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Exploration (EDA)</a:t>
            </a:r>
            <a:endParaRPr b="0" i="0" sz="1400" u="none" cap="none" strike="noStrike">
              <a:solidFill>
                <a:srgbClr val="000000"/>
              </a:solidFill>
              <a:latin typeface="Arial"/>
              <a:ea typeface="Arial"/>
              <a:cs typeface="Arial"/>
              <a:sym typeface="Arial"/>
            </a:endParaRPr>
          </a:p>
        </p:txBody>
      </p:sp>
      <p:sp>
        <p:nvSpPr>
          <p:cNvPr id="270" name="Google Shape;270;p28"/>
          <p:cNvSpPr/>
          <p:nvPr/>
        </p:nvSpPr>
        <p:spPr>
          <a:xfrm>
            <a:off x="2587752" y="1920240"/>
            <a:ext cx="2267712" cy="406908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1" name="Google Shape;271;p28"/>
          <p:cNvSpPr txBox="1"/>
          <p:nvPr/>
        </p:nvSpPr>
        <p:spPr>
          <a:xfrm>
            <a:off x="2697480" y="2011680"/>
            <a:ext cx="2029968" cy="3840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Histograms per variable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Scatter plots + OLS lines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Pearson heatmap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Time-series line charts</a:t>
            </a:r>
            <a:endParaRPr b="0" i="0" sz="1400" u="none" cap="none" strike="noStrike">
              <a:solidFill>
                <a:srgbClr val="000000"/>
              </a:solidFill>
              <a:latin typeface="Arial"/>
              <a:ea typeface="Arial"/>
              <a:cs typeface="Arial"/>
              <a:sym typeface="Arial"/>
            </a:endParaRPr>
          </a:p>
        </p:txBody>
      </p:sp>
      <p:sp>
        <p:nvSpPr>
          <p:cNvPr id="272" name="Google Shape;272;p28"/>
          <p:cNvSpPr/>
          <p:nvPr/>
        </p:nvSpPr>
        <p:spPr>
          <a:xfrm>
            <a:off x="4992624" y="1371600"/>
            <a:ext cx="2267712" cy="50292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3" name="Google Shape;273;p28"/>
          <p:cNvSpPr txBox="1"/>
          <p:nvPr/>
        </p:nvSpPr>
        <p:spPr>
          <a:xfrm>
            <a:off x="5065776" y="1389888"/>
            <a:ext cx="21031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Layer 3</a:t>
            </a:r>
            <a:endParaRPr b="0" i="0" sz="1400" u="none" cap="none" strike="noStrike">
              <a:solidFill>
                <a:srgbClr val="000000"/>
              </a:solidFill>
              <a:latin typeface="Arial"/>
              <a:ea typeface="Arial"/>
              <a:cs typeface="Arial"/>
              <a:sym typeface="Arial"/>
            </a:endParaRPr>
          </a:p>
        </p:txBody>
      </p:sp>
      <p:sp>
        <p:nvSpPr>
          <p:cNvPr id="274" name="Google Shape;274;p28"/>
          <p:cNvSpPr txBox="1"/>
          <p:nvPr/>
        </p:nvSpPr>
        <p:spPr>
          <a:xfrm>
            <a:off x="5065776" y="1627632"/>
            <a:ext cx="210312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Segmentation</a:t>
            </a:r>
            <a:endParaRPr b="0" i="0" sz="1400" u="none" cap="none" strike="noStrike">
              <a:solidFill>
                <a:srgbClr val="000000"/>
              </a:solidFill>
              <a:latin typeface="Arial"/>
              <a:ea typeface="Arial"/>
              <a:cs typeface="Arial"/>
              <a:sym typeface="Arial"/>
            </a:endParaRPr>
          </a:p>
        </p:txBody>
      </p:sp>
      <p:sp>
        <p:nvSpPr>
          <p:cNvPr id="275" name="Google Shape;275;p28"/>
          <p:cNvSpPr/>
          <p:nvPr/>
        </p:nvSpPr>
        <p:spPr>
          <a:xfrm>
            <a:off x="4992624" y="1920240"/>
            <a:ext cx="2267712" cy="406908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6" name="Google Shape;276;p28"/>
          <p:cNvSpPr txBox="1"/>
          <p:nvPr/>
        </p:nvSpPr>
        <p:spPr>
          <a:xfrm>
            <a:off x="5102352" y="2011680"/>
            <a:ext cx="2029968" cy="3840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CO₂ emissions tier (3 bins)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Renewable energy tier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Composite risk score (z-sum)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Country-level means</a:t>
            </a:r>
            <a:endParaRPr b="0" i="0" sz="1400" u="none" cap="none" strike="noStrike">
              <a:solidFill>
                <a:srgbClr val="000000"/>
              </a:solidFill>
              <a:latin typeface="Arial"/>
              <a:ea typeface="Arial"/>
              <a:cs typeface="Arial"/>
              <a:sym typeface="Arial"/>
            </a:endParaRPr>
          </a:p>
        </p:txBody>
      </p:sp>
      <p:sp>
        <p:nvSpPr>
          <p:cNvPr id="277" name="Google Shape;277;p28"/>
          <p:cNvSpPr/>
          <p:nvPr/>
        </p:nvSpPr>
        <p:spPr>
          <a:xfrm>
            <a:off x="7397496" y="1371600"/>
            <a:ext cx="2267712" cy="5029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8" name="Google Shape;278;p28"/>
          <p:cNvSpPr txBox="1"/>
          <p:nvPr/>
        </p:nvSpPr>
        <p:spPr>
          <a:xfrm>
            <a:off x="7470648" y="1389888"/>
            <a:ext cx="21031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Layer 4</a:t>
            </a:r>
            <a:endParaRPr b="0" i="0" sz="1400" u="none" cap="none" strike="noStrike">
              <a:solidFill>
                <a:srgbClr val="000000"/>
              </a:solidFill>
              <a:latin typeface="Arial"/>
              <a:ea typeface="Arial"/>
              <a:cs typeface="Arial"/>
              <a:sym typeface="Arial"/>
            </a:endParaRPr>
          </a:p>
        </p:txBody>
      </p:sp>
      <p:sp>
        <p:nvSpPr>
          <p:cNvPr id="279" name="Google Shape;279;p28"/>
          <p:cNvSpPr txBox="1"/>
          <p:nvPr/>
        </p:nvSpPr>
        <p:spPr>
          <a:xfrm>
            <a:off x="7470648" y="1627632"/>
            <a:ext cx="210312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Hypothesis Testing</a:t>
            </a:r>
            <a:endParaRPr b="0" i="0" sz="1400" u="none" cap="none" strike="noStrike">
              <a:solidFill>
                <a:srgbClr val="000000"/>
              </a:solidFill>
              <a:latin typeface="Arial"/>
              <a:ea typeface="Arial"/>
              <a:cs typeface="Arial"/>
              <a:sym typeface="Arial"/>
            </a:endParaRPr>
          </a:p>
        </p:txBody>
      </p:sp>
      <p:sp>
        <p:nvSpPr>
          <p:cNvPr id="280" name="Google Shape;280;p28"/>
          <p:cNvSpPr/>
          <p:nvPr/>
        </p:nvSpPr>
        <p:spPr>
          <a:xfrm>
            <a:off x="7397496" y="1920240"/>
            <a:ext cx="2267712" cy="406908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1" name="Google Shape;281;p28"/>
          <p:cNvSpPr txBox="1"/>
          <p:nvPr/>
        </p:nvSpPr>
        <p:spPr>
          <a:xfrm>
            <a:off x="7507223" y="2011680"/>
            <a:ext cx="2029968" cy="3840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Pearson + Spearman 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Welch t-test (unequal var)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One-way ANOVA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OLS linear regression</a:t>
            </a:r>
            <a:endParaRPr b="0" i="0" sz="1400" u="none" cap="none" strike="noStrike">
              <a:solidFill>
                <a:srgbClr val="000000"/>
              </a:solidFill>
              <a:latin typeface="Arial"/>
              <a:ea typeface="Arial"/>
              <a:cs typeface="Arial"/>
              <a:sym typeface="Arial"/>
            </a:endParaRPr>
          </a:p>
        </p:txBody>
      </p:sp>
      <p:sp>
        <p:nvSpPr>
          <p:cNvPr id="282" name="Google Shape;282;p28"/>
          <p:cNvSpPr/>
          <p:nvPr/>
        </p:nvSpPr>
        <p:spPr>
          <a:xfrm>
            <a:off x="9802367" y="1371600"/>
            <a:ext cx="2267712" cy="502920"/>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8"/>
          <p:cNvSpPr txBox="1"/>
          <p:nvPr/>
        </p:nvSpPr>
        <p:spPr>
          <a:xfrm>
            <a:off x="9875519" y="1389888"/>
            <a:ext cx="21031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Layer 5</a:t>
            </a:r>
            <a:endParaRPr b="0" i="0" sz="1400" u="none" cap="none" strike="noStrike">
              <a:solidFill>
                <a:srgbClr val="000000"/>
              </a:solidFill>
              <a:latin typeface="Arial"/>
              <a:ea typeface="Arial"/>
              <a:cs typeface="Arial"/>
              <a:sym typeface="Arial"/>
            </a:endParaRPr>
          </a:p>
        </p:txBody>
      </p:sp>
      <p:sp>
        <p:nvSpPr>
          <p:cNvPr id="284" name="Google Shape;284;p28"/>
          <p:cNvSpPr txBox="1"/>
          <p:nvPr/>
        </p:nvSpPr>
        <p:spPr>
          <a:xfrm>
            <a:off x="9875519" y="1627632"/>
            <a:ext cx="210312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Unsupervised Validation</a:t>
            </a:r>
            <a:endParaRPr b="0" i="0" sz="1400" u="none" cap="none" strike="noStrike">
              <a:solidFill>
                <a:srgbClr val="000000"/>
              </a:solidFill>
              <a:latin typeface="Arial"/>
              <a:ea typeface="Arial"/>
              <a:cs typeface="Arial"/>
              <a:sym typeface="Arial"/>
            </a:endParaRPr>
          </a:p>
        </p:txBody>
      </p:sp>
      <p:sp>
        <p:nvSpPr>
          <p:cNvPr id="285" name="Google Shape;285;p28"/>
          <p:cNvSpPr/>
          <p:nvPr/>
        </p:nvSpPr>
        <p:spPr>
          <a:xfrm>
            <a:off x="9802367" y="1920240"/>
            <a:ext cx="2267712" cy="406908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6" name="Google Shape;286;p28"/>
          <p:cNvSpPr txBox="1"/>
          <p:nvPr/>
        </p:nvSpPr>
        <p:spPr>
          <a:xfrm>
            <a:off x="9912095" y="2011680"/>
            <a:ext cx="2029968" cy="3840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KMeans k=4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Standardized features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No labels supplied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50"/>
              <a:buFont typeface="Arial"/>
              <a:buNone/>
            </a:pPr>
            <a:r>
              <a:rPr b="0" i="0" lang="en-US" sz="1250" u="none" cap="none" strike="noStrike">
                <a:solidFill>
                  <a:srgbClr val="2C3E50"/>
                </a:solidFill>
                <a:latin typeface="Calibri"/>
                <a:ea typeface="Calibri"/>
                <a:cs typeface="Calibri"/>
                <a:sym typeface="Calibri"/>
              </a:rPr>
              <a:t>•  Cluster profiles vs. hypotheses</a:t>
            </a:r>
            <a:endParaRPr b="0" i="0" sz="1400" u="none" cap="none" strike="noStrike">
              <a:solidFill>
                <a:srgbClr val="000000"/>
              </a:solidFill>
              <a:latin typeface="Arial"/>
              <a:ea typeface="Arial"/>
              <a:cs typeface="Arial"/>
              <a:sym typeface="Arial"/>
            </a:endParaRPr>
          </a:p>
        </p:txBody>
      </p:sp>
      <p:sp>
        <p:nvSpPr>
          <p:cNvPr id="287" name="Google Shape;287;p28"/>
          <p:cNvSpPr txBox="1"/>
          <p:nvPr/>
        </p:nvSpPr>
        <p:spPr>
          <a:xfrm>
            <a:off x="274320" y="6199632"/>
            <a:ext cx="11612880" cy="320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7F8C8D"/>
                </a:solidFill>
                <a:latin typeface="Calibri"/>
                <a:ea typeface="Calibri"/>
                <a:cs typeface="Calibri"/>
                <a:sym typeface="Calibri"/>
              </a:rPr>
              <a:t>All hypothesis tests: α = 0.10  |  Both Pearson and Spearman run for every correlation hypothesis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29"/>
          <p:cNvSpPr/>
          <p:nvPr/>
        </p:nvSpPr>
        <p:spPr>
          <a:xfrm>
            <a:off x="0" y="0"/>
            <a:ext cx="12188952" cy="6858000"/>
          </a:xfrm>
          <a:prstGeom prst="rect">
            <a:avLst/>
          </a:prstGeom>
          <a:solidFill>
            <a:srgbClr val="F2F6F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3" name="Google Shape;293;p29"/>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4" name="Google Shape;294;p29"/>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Results — EDA &amp; Correlation Analysis</a:t>
            </a:r>
            <a:endParaRPr b="0" i="0" sz="1400" u="none" cap="none" strike="noStrike">
              <a:solidFill>
                <a:srgbClr val="000000"/>
              </a:solidFill>
              <a:latin typeface="Arial"/>
              <a:ea typeface="Arial"/>
              <a:cs typeface="Arial"/>
              <a:sym typeface="Arial"/>
            </a:endParaRPr>
          </a:p>
        </p:txBody>
      </p:sp>
      <p:sp>
        <p:nvSpPr>
          <p:cNvPr id="295" name="Google Shape;295;p29"/>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Heatmap-guided hypothesis focus confirmed by scatter regression</a:t>
            </a:r>
            <a:endParaRPr b="0" i="0" sz="1400" u="none" cap="none" strike="noStrike">
              <a:solidFill>
                <a:srgbClr val="000000"/>
              </a:solidFill>
              <a:latin typeface="Arial"/>
              <a:ea typeface="Arial"/>
              <a:cs typeface="Arial"/>
              <a:sym typeface="Arial"/>
            </a:endParaRPr>
          </a:p>
        </p:txBody>
      </p:sp>
      <p:sp>
        <p:nvSpPr>
          <p:cNvPr id="296" name="Google Shape;296;p29"/>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7" name="Google Shape;297;p29"/>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8" name="Google Shape;298;p29"/>
          <p:cNvSpPr txBox="1"/>
          <p:nvPr/>
        </p:nvSpPr>
        <p:spPr>
          <a:xfrm>
            <a:off x="228605" y="6638555"/>
            <a:ext cx="11795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pic>
        <p:nvPicPr>
          <p:cNvPr descr="fig1_heatmap.png" id="299" name="Google Shape;299;p29"/>
          <p:cNvPicPr preferRelativeResize="0"/>
          <p:nvPr/>
        </p:nvPicPr>
        <p:blipFill rotWithShape="1">
          <a:blip r:embed="rId3">
            <a:alphaModFix/>
          </a:blip>
          <a:srcRect b="0" l="0" r="0" t="0"/>
          <a:stretch/>
        </p:blipFill>
        <p:spPr>
          <a:xfrm>
            <a:off x="274320" y="1325880"/>
            <a:ext cx="5303520" cy="3804699"/>
          </a:xfrm>
          <a:prstGeom prst="rect">
            <a:avLst/>
          </a:prstGeom>
          <a:noFill/>
          <a:ln>
            <a:noFill/>
          </a:ln>
        </p:spPr>
      </p:pic>
      <p:sp>
        <p:nvSpPr>
          <p:cNvPr id="300" name="Google Shape;300;p29"/>
          <p:cNvSpPr txBox="1"/>
          <p:nvPr/>
        </p:nvSpPr>
        <p:spPr>
          <a:xfrm>
            <a:off x="274383" y="5061273"/>
            <a:ext cx="5303400" cy="646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1" lang="en-US" sz="900" cap="none" strike="noStrike">
                <a:solidFill>
                  <a:schemeClr val="dk1"/>
                </a:solidFill>
                <a:latin typeface="Calibri"/>
                <a:ea typeface="Calibri"/>
                <a:cs typeface="Calibri"/>
                <a:sym typeface="Calibri"/>
              </a:rPr>
              <a:t>Fig. 1 — Average CO₂ Emissions Over Time (2000–2023): The red line shows the global annual mean CO₂ across all 15 countries. The dashed trend line shows a slight upward slope of +0.032 T/cap/yr, though it is not statistically significant at α = 0.10 (p = 0.246), meaning the overall increase could be due to chance. The dotted line marks the 24-year average of 10.38 T/cap.</a:t>
            </a:r>
            <a:endParaRPr b="0" i="0" sz="1300" cap="none" strike="noStrike">
              <a:solidFill>
                <a:schemeClr val="dk1"/>
              </a:solidFill>
              <a:latin typeface="Arial"/>
              <a:ea typeface="Arial"/>
              <a:cs typeface="Arial"/>
              <a:sym typeface="Arial"/>
            </a:endParaRPr>
          </a:p>
        </p:txBody>
      </p:sp>
      <p:pic>
        <p:nvPicPr>
          <p:cNvPr descr="fig2_scatter.png" id="301" name="Google Shape;301;p29"/>
          <p:cNvPicPr preferRelativeResize="0"/>
          <p:nvPr/>
        </p:nvPicPr>
        <p:blipFill rotWithShape="1">
          <a:blip r:embed="rId4">
            <a:alphaModFix/>
          </a:blip>
          <a:srcRect b="0" l="0" r="0" t="0"/>
          <a:stretch/>
        </p:blipFill>
        <p:spPr>
          <a:xfrm>
            <a:off x="5852285" y="1221243"/>
            <a:ext cx="6035040" cy="4113773"/>
          </a:xfrm>
          <a:prstGeom prst="rect">
            <a:avLst/>
          </a:prstGeom>
          <a:noFill/>
          <a:ln>
            <a:noFill/>
          </a:ln>
        </p:spPr>
      </p:pic>
      <p:sp>
        <p:nvSpPr>
          <p:cNvPr id="302" name="Google Shape;302;p29"/>
          <p:cNvSpPr txBox="1"/>
          <p:nvPr/>
        </p:nvSpPr>
        <p:spPr>
          <a:xfrm>
            <a:off x="6153860" y="5130573"/>
            <a:ext cx="60351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i="1" lang="en-US" sz="900" u="none" cap="none" strike="noStrike">
                <a:solidFill>
                  <a:schemeClr val="dk1"/>
                </a:solidFill>
                <a:latin typeface="Calibri"/>
                <a:ea typeface="Calibri"/>
                <a:cs typeface="Calibri"/>
                <a:sym typeface="Calibri"/>
              </a:rPr>
              <a:t>Fig. 2 — Renewable Energy (%) vs CO₂ Emissions (Tons/Capita): Each dot represents one country-year observation, coloured by country. The dashed trend line (r = −0.09, p &lt; 0.001) confirms a small but statistically significant negative slope — countries with higher renewable energy shares tend to emit slightly less CO₂ per capita,</a:t>
            </a:r>
            <a:endParaRPr i="0" sz="1300" u="none" cap="none" strike="noStrike">
              <a:solidFill>
                <a:schemeClr val="dk1"/>
              </a:solidFill>
            </a:endParaRPr>
          </a:p>
        </p:txBody>
      </p:sp>
      <p:sp>
        <p:nvSpPr>
          <p:cNvPr id="303" name="Google Shape;303;p29"/>
          <p:cNvSpPr/>
          <p:nvPr/>
        </p:nvSpPr>
        <p:spPr>
          <a:xfrm>
            <a:off x="274325" y="5668248"/>
            <a:ext cx="11613000" cy="97020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4" name="Google Shape;304;p29"/>
          <p:cNvSpPr txBox="1"/>
          <p:nvPr/>
        </p:nvSpPr>
        <p:spPr>
          <a:xfrm>
            <a:off x="444120" y="5618317"/>
            <a:ext cx="32004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27AE60"/>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p:txBody>
      </p:sp>
      <p:sp>
        <p:nvSpPr>
          <p:cNvPr id="305" name="Google Shape;305;p29"/>
          <p:cNvSpPr txBox="1"/>
          <p:nvPr/>
        </p:nvSpPr>
        <p:spPr>
          <a:xfrm>
            <a:off x="502920" y="5779008"/>
            <a:ext cx="112470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FFFFFF"/>
                </a:solidFill>
                <a:latin typeface="Calibri"/>
                <a:ea typeface="Calibri"/>
                <a:cs typeface="Calibri"/>
                <a:sym typeface="Calibri"/>
              </a:rPr>
              <a:t>•  Global average CO₂ shows a slight upward trend (+0.032 T/cap/yr) — year-to-year fluctuation is large, with values ranging from 8.3 to 12.3 T/cap across the 24-year period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50"/>
              <a:buFont typeface="Arial"/>
              <a:buNone/>
            </a:pPr>
            <a:r>
              <a:rPr b="0" i="0" lang="en-US" sz="1150" u="none" cap="none" strike="noStrike">
                <a:solidFill>
                  <a:srgbClr val="FFFFFF"/>
                </a:solidFill>
                <a:latin typeface="Calibri"/>
                <a:ea typeface="Calibri"/>
                <a:cs typeface="Calibri"/>
                <a:sym typeface="Calibri"/>
              </a:rPr>
              <a:t>•  Scatter regression line: r = −0.09 (p &lt; 0.001) — significant at α = 0.10, confirming negative linear relationship between renewable energy and CO₂</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50"/>
              <a:buFont typeface="Arial"/>
              <a:buNone/>
            </a:pPr>
            <a:r>
              <a:rPr b="0" i="0" lang="en-US" sz="1150" u="none" cap="none" strike="noStrike">
                <a:solidFill>
                  <a:srgbClr val="FFFFFF"/>
                </a:solidFill>
                <a:latin typeface="Calibri"/>
                <a:ea typeface="Calibri"/>
                <a:cs typeface="Calibri"/>
                <a:sym typeface="Calibri"/>
              </a:rPr>
              <a:t>•  Upward trends visible in Avg Temperature and Sea Level Rise time-series; per-country OLS shows Mexico warming significantly at +0.43°C/yr (p = 0.020, α = 0.10)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50"/>
              <a:buFont typeface="Arial"/>
              <a:buNone/>
            </a:pPr>
            <a:r>
              <a:rPr b="0" i="0" lang="en-US" sz="1150" u="none" cap="none" strike="noStrike">
                <a:solidFill>
                  <a:srgbClr val="FFFFFF"/>
                </a:solidFill>
                <a:latin typeface="Calibri"/>
                <a:ea typeface="Calibri"/>
                <a:cs typeface="Calibri"/>
                <a:sym typeface="Calibri"/>
              </a:rPr>
              <a:t>•  Forest Area shows expected negative correlation with CO₂ emissions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30"/>
          <p:cNvSpPr/>
          <p:nvPr/>
        </p:nvSpPr>
        <p:spPr>
          <a:xfrm>
            <a:off x="0" y="0"/>
            <a:ext cx="12189000" cy="6858000"/>
          </a:xfrm>
          <a:prstGeom prst="rect">
            <a:avLst/>
          </a:prstGeom>
          <a:solidFill>
            <a:srgbClr val="F2F6F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30"/>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p30"/>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Results — Statistical Tests, ANOVA &amp; Clustering</a:t>
            </a:r>
            <a:endParaRPr b="0" i="0" sz="1400" u="none" cap="none" strike="noStrike">
              <a:solidFill>
                <a:srgbClr val="000000"/>
              </a:solidFill>
              <a:latin typeface="Arial"/>
              <a:ea typeface="Arial"/>
              <a:cs typeface="Arial"/>
              <a:sym typeface="Arial"/>
            </a:endParaRPr>
          </a:p>
        </p:txBody>
      </p:sp>
      <p:sp>
        <p:nvSpPr>
          <p:cNvPr id="313" name="Google Shape;313;p30"/>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Convergence of five independent methods</a:t>
            </a:r>
            <a:endParaRPr b="0" i="0" sz="1400" u="none" cap="none" strike="noStrike">
              <a:solidFill>
                <a:srgbClr val="000000"/>
              </a:solidFill>
              <a:latin typeface="Arial"/>
              <a:ea typeface="Arial"/>
              <a:cs typeface="Arial"/>
              <a:sym typeface="Arial"/>
            </a:endParaRPr>
          </a:p>
        </p:txBody>
      </p:sp>
      <p:sp>
        <p:nvSpPr>
          <p:cNvPr id="314" name="Google Shape;314;p30"/>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5" name="Google Shape;315;p30"/>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p30"/>
          <p:cNvSpPr txBox="1"/>
          <p:nvPr/>
        </p:nvSpPr>
        <p:spPr>
          <a:xfrm>
            <a:off x="196593" y="6665980"/>
            <a:ext cx="11795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pic>
        <p:nvPicPr>
          <p:cNvPr descr="fig3_pvalues.png" id="317" name="Google Shape;317;p30"/>
          <p:cNvPicPr preferRelativeResize="0"/>
          <p:nvPr/>
        </p:nvPicPr>
        <p:blipFill rotWithShape="1">
          <a:blip r:embed="rId3">
            <a:alphaModFix/>
          </a:blip>
          <a:srcRect b="0" l="0" r="0" t="0"/>
          <a:stretch/>
        </p:blipFill>
        <p:spPr>
          <a:xfrm>
            <a:off x="274325" y="1325875"/>
            <a:ext cx="6233811" cy="3044012"/>
          </a:xfrm>
          <a:prstGeom prst="rect">
            <a:avLst/>
          </a:prstGeom>
          <a:noFill/>
          <a:ln>
            <a:noFill/>
          </a:ln>
        </p:spPr>
      </p:pic>
      <p:sp>
        <p:nvSpPr>
          <p:cNvPr id="318" name="Google Shape;318;p30"/>
          <p:cNvSpPr txBox="1"/>
          <p:nvPr/>
        </p:nvSpPr>
        <p:spPr>
          <a:xfrm>
            <a:off x="320032" y="4357770"/>
            <a:ext cx="5943600" cy="708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chemeClr val="dk1"/>
                </a:solidFill>
                <a:latin typeface="Calibri"/>
                <a:ea typeface="Calibri"/>
                <a:cs typeface="Calibri"/>
                <a:sym typeface="Calibri"/>
              </a:rPr>
              <a:t>Fig. 3 — Average Temperature Over Time (Q1 &amp; Q3): The left panel shows the global annual mean temperature across all 15 countries (2000–2023) with a pooled trend of +0.028°C/yr — not significant at α = 0.10 due to cross-country noise. The right panel isolates Mexico, the only country with a statistically significant warming trend at +0.426°C/yr (p = 0.020), making it the region that changed the most.</a:t>
            </a:r>
            <a:endParaRPr b="0" i="0" sz="1400" u="none" cap="none" strike="noStrike">
              <a:solidFill>
                <a:schemeClr val="dk1"/>
              </a:solidFill>
              <a:latin typeface="Arial"/>
              <a:ea typeface="Arial"/>
              <a:cs typeface="Arial"/>
              <a:sym typeface="Arial"/>
            </a:endParaRPr>
          </a:p>
        </p:txBody>
      </p:sp>
      <p:pic>
        <p:nvPicPr>
          <p:cNvPr descr="fig4_co2_country.png" id="319" name="Google Shape;319;p30"/>
          <p:cNvPicPr preferRelativeResize="0"/>
          <p:nvPr/>
        </p:nvPicPr>
        <p:blipFill rotWithShape="1">
          <a:blip r:embed="rId4">
            <a:alphaModFix/>
          </a:blip>
          <a:srcRect b="0" l="0" r="0" t="0"/>
          <a:stretch/>
        </p:blipFill>
        <p:spPr>
          <a:xfrm>
            <a:off x="6519675" y="1335025"/>
            <a:ext cx="5669277" cy="3034850"/>
          </a:xfrm>
          <a:prstGeom prst="rect">
            <a:avLst/>
          </a:prstGeom>
          <a:noFill/>
          <a:ln>
            <a:noFill/>
          </a:ln>
        </p:spPr>
      </p:pic>
      <p:sp>
        <p:nvSpPr>
          <p:cNvPr id="320" name="Google Shape;320;p30"/>
          <p:cNvSpPr txBox="1"/>
          <p:nvPr/>
        </p:nvSpPr>
        <p:spPr>
          <a:xfrm>
            <a:off x="6217795" y="4347370"/>
            <a:ext cx="5669400" cy="708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chemeClr val="dk1"/>
                </a:solidFill>
                <a:latin typeface="Calibri"/>
                <a:ea typeface="Calibri"/>
                <a:cs typeface="Calibri"/>
                <a:sym typeface="Calibri"/>
              </a:rPr>
              <a:t>Fig. 4 — Mean CO₂ by Country + Top/Bottom 3 Emitter Trends: The left bar chart ranks all 15 countries by average per-capita CO₂ emissions (2000–2023); the dashed line shows the dataset mean (10.41 T/cap). The right line chart tracks the three highest emitters (UK, Indonesia, France — red tones) and three lowest (Australia, Russia, Mexico — green tones) </a:t>
            </a:r>
            <a:endParaRPr b="0" i="0" sz="1400" u="none" cap="none" strike="noStrike">
              <a:solidFill>
                <a:schemeClr val="dk1"/>
              </a:solidFill>
              <a:latin typeface="Arial"/>
              <a:ea typeface="Arial"/>
              <a:cs typeface="Arial"/>
              <a:sym typeface="Arial"/>
            </a:endParaRPr>
          </a:p>
        </p:txBody>
      </p:sp>
      <p:sp>
        <p:nvSpPr>
          <p:cNvPr id="321" name="Google Shape;321;p30"/>
          <p:cNvSpPr/>
          <p:nvPr/>
        </p:nvSpPr>
        <p:spPr>
          <a:xfrm>
            <a:off x="274320" y="5029200"/>
            <a:ext cx="11612880" cy="347472"/>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2" name="Google Shape;322;p30"/>
          <p:cNvSpPr txBox="1"/>
          <p:nvPr/>
        </p:nvSpPr>
        <p:spPr>
          <a:xfrm>
            <a:off x="384048" y="5056632"/>
            <a:ext cx="2560320"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Test</a:t>
            </a:r>
            <a:endParaRPr b="0" i="0" sz="1400" u="none" cap="none" strike="noStrike">
              <a:solidFill>
                <a:srgbClr val="000000"/>
              </a:solidFill>
              <a:latin typeface="Arial"/>
              <a:ea typeface="Arial"/>
              <a:cs typeface="Arial"/>
              <a:sym typeface="Arial"/>
            </a:endParaRPr>
          </a:p>
        </p:txBody>
      </p:sp>
      <p:sp>
        <p:nvSpPr>
          <p:cNvPr id="323" name="Google Shape;323;p30"/>
          <p:cNvSpPr txBox="1"/>
          <p:nvPr/>
        </p:nvSpPr>
        <p:spPr>
          <a:xfrm>
            <a:off x="2011680" y="5056632"/>
            <a:ext cx="2560320"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Hypotheses</a:t>
            </a:r>
            <a:endParaRPr b="0" i="0" sz="1400" u="none" cap="none" strike="noStrike">
              <a:solidFill>
                <a:srgbClr val="000000"/>
              </a:solidFill>
              <a:latin typeface="Arial"/>
              <a:ea typeface="Arial"/>
              <a:cs typeface="Arial"/>
              <a:sym typeface="Arial"/>
            </a:endParaRPr>
          </a:p>
        </p:txBody>
      </p:sp>
      <p:sp>
        <p:nvSpPr>
          <p:cNvPr id="324" name="Google Shape;324;p30"/>
          <p:cNvSpPr txBox="1"/>
          <p:nvPr/>
        </p:nvSpPr>
        <p:spPr>
          <a:xfrm>
            <a:off x="6858000" y="5056632"/>
            <a:ext cx="2560320"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Result</a:t>
            </a:r>
            <a:endParaRPr b="0" i="0" sz="1400" u="none" cap="none" strike="noStrike">
              <a:solidFill>
                <a:srgbClr val="000000"/>
              </a:solidFill>
              <a:latin typeface="Arial"/>
              <a:ea typeface="Arial"/>
              <a:cs typeface="Arial"/>
              <a:sym typeface="Arial"/>
            </a:endParaRPr>
          </a:p>
        </p:txBody>
      </p:sp>
      <p:sp>
        <p:nvSpPr>
          <p:cNvPr id="325" name="Google Shape;325;p30"/>
          <p:cNvSpPr txBox="1"/>
          <p:nvPr/>
        </p:nvSpPr>
        <p:spPr>
          <a:xfrm>
            <a:off x="4251893" y="5056632"/>
            <a:ext cx="2560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Calibri"/>
                <a:ea typeface="Calibri"/>
                <a:cs typeface="Calibri"/>
                <a:sym typeface="Calibri"/>
              </a:rPr>
              <a:t>Decision</a:t>
            </a:r>
            <a:endParaRPr b="0" i="0" sz="1400" u="none" cap="none" strike="noStrike">
              <a:solidFill>
                <a:srgbClr val="000000"/>
              </a:solidFill>
              <a:latin typeface="Arial"/>
              <a:ea typeface="Arial"/>
              <a:cs typeface="Arial"/>
              <a:sym typeface="Arial"/>
            </a:endParaRPr>
          </a:p>
        </p:txBody>
      </p:sp>
      <p:sp>
        <p:nvSpPr>
          <p:cNvPr id="326" name="Google Shape;326;p30"/>
          <p:cNvSpPr txBox="1"/>
          <p:nvPr/>
        </p:nvSpPr>
        <p:spPr>
          <a:xfrm>
            <a:off x="384048" y="5431536"/>
            <a:ext cx="256032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Welch t-test</a:t>
            </a:r>
            <a:endParaRPr b="0" i="0" sz="1400" u="none" cap="none" strike="noStrike">
              <a:solidFill>
                <a:srgbClr val="000000"/>
              </a:solidFill>
              <a:latin typeface="Arial"/>
              <a:ea typeface="Arial"/>
              <a:cs typeface="Arial"/>
              <a:sym typeface="Arial"/>
            </a:endParaRPr>
          </a:p>
        </p:txBody>
      </p:sp>
      <p:sp>
        <p:nvSpPr>
          <p:cNvPr id="327" name="Google Shape;327;p30"/>
          <p:cNvSpPr txBox="1"/>
          <p:nvPr/>
        </p:nvSpPr>
        <p:spPr>
          <a:xfrm>
            <a:off x="2011718" y="5427261"/>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High vs Low renewable CO₂ means</a:t>
            </a:r>
            <a:endParaRPr b="0" i="0" sz="1400" u="none" cap="none" strike="noStrike">
              <a:solidFill>
                <a:srgbClr val="000000"/>
              </a:solidFill>
              <a:latin typeface="Arial"/>
              <a:ea typeface="Arial"/>
              <a:cs typeface="Arial"/>
              <a:sym typeface="Arial"/>
            </a:endParaRPr>
          </a:p>
        </p:txBody>
      </p:sp>
      <p:sp>
        <p:nvSpPr>
          <p:cNvPr id="328" name="Google Shape;328;p30"/>
          <p:cNvSpPr txBox="1"/>
          <p:nvPr/>
        </p:nvSpPr>
        <p:spPr>
          <a:xfrm>
            <a:off x="5117400" y="5821225"/>
            <a:ext cx="65871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Rejecting H0 means the difference in CO₂ emissions between high and low renewable energy countries is too large to be random chance — countries that invest more in renewables genuinely emit significantly less CO₂ per capita</a:t>
            </a:r>
            <a:endParaRPr b="0" i="0" sz="1400" u="none" cap="none" strike="noStrike">
              <a:solidFill>
                <a:srgbClr val="000000"/>
              </a:solidFill>
              <a:latin typeface="Arial"/>
              <a:ea typeface="Arial"/>
              <a:cs typeface="Arial"/>
              <a:sym typeface="Arial"/>
            </a:endParaRPr>
          </a:p>
        </p:txBody>
      </p:sp>
      <p:sp>
        <p:nvSpPr>
          <p:cNvPr id="329" name="Google Shape;329;p30"/>
          <p:cNvSpPr txBox="1"/>
          <p:nvPr/>
        </p:nvSpPr>
        <p:spPr>
          <a:xfrm>
            <a:off x="4297680" y="5431549"/>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7AE60"/>
                </a:solidFill>
                <a:latin typeface="Calibri"/>
                <a:ea typeface="Calibri"/>
                <a:cs typeface="Calibri"/>
                <a:sym typeface="Calibri"/>
              </a:rPr>
              <a:t>✅ Reject H0</a:t>
            </a:r>
            <a:endParaRPr b="0" i="0" sz="1400" u="none" cap="none" strike="noStrike">
              <a:solidFill>
                <a:srgbClr val="000000"/>
              </a:solidFill>
              <a:latin typeface="Arial"/>
              <a:ea typeface="Arial"/>
              <a:cs typeface="Arial"/>
              <a:sym typeface="Arial"/>
            </a:endParaRPr>
          </a:p>
        </p:txBody>
      </p:sp>
      <p:sp>
        <p:nvSpPr>
          <p:cNvPr id="330" name="Google Shape;330;p30"/>
          <p:cNvSpPr txBox="1"/>
          <p:nvPr/>
        </p:nvSpPr>
        <p:spPr>
          <a:xfrm>
            <a:off x="384123" y="5898182"/>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ANOVA</a:t>
            </a:r>
            <a:endParaRPr b="0" i="0" sz="1400" u="none" cap="none" strike="noStrike">
              <a:solidFill>
                <a:srgbClr val="000000"/>
              </a:solidFill>
              <a:latin typeface="Arial"/>
              <a:ea typeface="Arial"/>
              <a:cs typeface="Arial"/>
              <a:sym typeface="Arial"/>
            </a:endParaRPr>
          </a:p>
        </p:txBody>
      </p:sp>
      <p:sp>
        <p:nvSpPr>
          <p:cNvPr id="331" name="Google Shape;331;p30"/>
          <p:cNvSpPr txBox="1"/>
          <p:nvPr/>
        </p:nvSpPr>
        <p:spPr>
          <a:xfrm>
            <a:off x="1962642" y="5898182"/>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CO₂ emissions across 15 countries</a:t>
            </a:r>
            <a:endParaRPr b="0" i="0" sz="1400" u="none" cap="none" strike="noStrike">
              <a:solidFill>
                <a:srgbClr val="000000"/>
              </a:solidFill>
              <a:latin typeface="Arial"/>
              <a:ea typeface="Arial"/>
              <a:cs typeface="Arial"/>
              <a:sym typeface="Arial"/>
            </a:endParaRPr>
          </a:p>
        </p:txBody>
      </p:sp>
      <p:sp>
        <p:nvSpPr>
          <p:cNvPr id="332" name="Google Shape;332;p30"/>
          <p:cNvSpPr txBox="1"/>
          <p:nvPr/>
        </p:nvSpPr>
        <p:spPr>
          <a:xfrm>
            <a:off x="5117400" y="5333938"/>
            <a:ext cx="6769800" cy="554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Rejecting H0 means CO₂ emissions are not equal across all 15 countries — at least one country's emissions are statistically different, confirming that where you live determines how much CO₂ is emitted per person (UK highest at 12.65 T/cap, Australia lowest at 8.90 T/cap)</a:t>
            </a:r>
            <a:endParaRPr b="0" i="0" sz="1400" u="none" cap="none" strike="noStrike">
              <a:solidFill>
                <a:srgbClr val="000000"/>
              </a:solidFill>
              <a:latin typeface="Arial"/>
              <a:ea typeface="Arial"/>
              <a:cs typeface="Arial"/>
              <a:sym typeface="Arial"/>
            </a:endParaRPr>
          </a:p>
        </p:txBody>
      </p:sp>
      <p:sp>
        <p:nvSpPr>
          <p:cNvPr id="333" name="Google Shape;333;p30"/>
          <p:cNvSpPr txBox="1"/>
          <p:nvPr/>
        </p:nvSpPr>
        <p:spPr>
          <a:xfrm>
            <a:off x="4297668" y="5904194"/>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7AE60"/>
                </a:solidFill>
                <a:latin typeface="Calibri"/>
                <a:ea typeface="Calibri"/>
                <a:cs typeface="Calibri"/>
                <a:sym typeface="Calibri"/>
              </a:rPr>
              <a:t>✅ Reject H0</a:t>
            </a:r>
            <a:endParaRPr b="0" i="0" sz="1400" u="none" cap="none" strike="noStrike">
              <a:solidFill>
                <a:srgbClr val="000000"/>
              </a:solidFill>
              <a:latin typeface="Arial"/>
              <a:ea typeface="Arial"/>
              <a:cs typeface="Arial"/>
              <a:sym typeface="Arial"/>
            </a:endParaRPr>
          </a:p>
        </p:txBody>
      </p:sp>
      <p:sp>
        <p:nvSpPr>
          <p:cNvPr id="334" name="Google Shape;334;p30"/>
          <p:cNvSpPr txBox="1"/>
          <p:nvPr/>
        </p:nvSpPr>
        <p:spPr>
          <a:xfrm>
            <a:off x="274323" y="6259052"/>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Linear Reg.</a:t>
            </a:r>
            <a:endParaRPr b="0" i="0" sz="1400" u="none" cap="none" strike="noStrike">
              <a:solidFill>
                <a:srgbClr val="000000"/>
              </a:solidFill>
              <a:latin typeface="Arial"/>
              <a:ea typeface="Arial"/>
              <a:cs typeface="Arial"/>
              <a:sym typeface="Arial"/>
            </a:endParaRPr>
          </a:p>
        </p:txBody>
      </p:sp>
      <p:sp>
        <p:nvSpPr>
          <p:cNvPr id="335" name="Google Shape;335;p30"/>
          <p:cNvSpPr txBox="1"/>
          <p:nvPr/>
        </p:nvSpPr>
        <p:spPr>
          <a:xfrm>
            <a:off x="1962655" y="6259052"/>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Temperature &amp; sea level trend over years</a:t>
            </a:r>
            <a:endParaRPr b="0" i="0" sz="1400" u="none" cap="none" strike="noStrike">
              <a:solidFill>
                <a:srgbClr val="000000"/>
              </a:solidFill>
              <a:latin typeface="Arial"/>
              <a:ea typeface="Arial"/>
              <a:cs typeface="Arial"/>
              <a:sym typeface="Arial"/>
            </a:endParaRPr>
          </a:p>
        </p:txBody>
      </p:sp>
      <p:sp>
        <p:nvSpPr>
          <p:cNvPr id="336" name="Google Shape;336;p30"/>
          <p:cNvSpPr txBox="1"/>
          <p:nvPr/>
        </p:nvSpPr>
        <p:spPr>
          <a:xfrm>
            <a:off x="5117400" y="6166613"/>
            <a:ext cx="73068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C3E50"/>
                </a:solidFill>
                <a:latin typeface="Calibri"/>
                <a:ea typeface="Calibri"/>
                <a:cs typeface="Calibri"/>
                <a:sym typeface="Calibri"/>
              </a:rPr>
              <a:t>Rejecting H0 means the upward slopes in temperature and sea level over time are not due to chance — both are genuinely trending upward across the dataset period, with Mexico showing the strongest warming at +0.43°C/yr (p = 0.020)</a:t>
            </a:r>
            <a:endParaRPr b="0" i="0" sz="1400" u="none" cap="none" strike="noStrike">
              <a:solidFill>
                <a:srgbClr val="000000"/>
              </a:solidFill>
              <a:latin typeface="Arial"/>
              <a:ea typeface="Arial"/>
              <a:cs typeface="Arial"/>
              <a:sym typeface="Arial"/>
            </a:endParaRPr>
          </a:p>
        </p:txBody>
      </p:sp>
      <p:sp>
        <p:nvSpPr>
          <p:cNvPr id="337" name="Google Shape;337;p30"/>
          <p:cNvSpPr txBox="1"/>
          <p:nvPr/>
        </p:nvSpPr>
        <p:spPr>
          <a:xfrm>
            <a:off x="4297668" y="6270252"/>
            <a:ext cx="2560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27AE60"/>
                </a:solidFill>
                <a:latin typeface="Calibri"/>
                <a:ea typeface="Calibri"/>
                <a:cs typeface="Calibri"/>
                <a:sym typeface="Calibri"/>
              </a:rPr>
              <a:t>✅ Reject H0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31"/>
          <p:cNvSpPr/>
          <p:nvPr/>
        </p:nvSpPr>
        <p:spPr>
          <a:xfrm>
            <a:off x="0" y="0"/>
            <a:ext cx="12188952" cy="1188720"/>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3" name="Google Shape;343;p31"/>
          <p:cNvSpPr txBox="1"/>
          <p:nvPr/>
        </p:nvSpPr>
        <p:spPr>
          <a:xfrm>
            <a:off x="320040" y="91440"/>
            <a:ext cx="1143000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Conclusion &amp; Future Work</a:t>
            </a:r>
            <a:endParaRPr b="0" i="0" sz="1400" u="none" cap="none" strike="noStrike">
              <a:solidFill>
                <a:srgbClr val="000000"/>
              </a:solidFill>
              <a:latin typeface="Arial"/>
              <a:ea typeface="Arial"/>
              <a:cs typeface="Arial"/>
              <a:sym typeface="Arial"/>
            </a:endParaRPr>
          </a:p>
        </p:txBody>
      </p:sp>
      <p:sp>
        <p:nvSpPr>
          <p:cNvPr id="344" name="Google Shape;344;p31"/>
          <p:cNvSpPr txBox="1"/>
          <p:nvPr/>
        </p:nvSpPr>
        <p:spPr>
          <a:xfrm>
            <a:off x="320040" y="713232"/>
            <a:ext cx="11430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D6E8F7"/>
                </a:solidFill>
                <a:latin typeface="Calibri"/>
                <a:ea typeface="Calibri"/>
                <a:cs typeface="Calibri"/>
                <a:sym typeface="Calibri"/>
              </a:rPr>
              <a:t>Key takeaways and next steps</a:t>
            </a:r>
            <a:endParaRPr b="0" i="0" sz="1400" u="none" cap="none" strike="noStrike">
              <a:solidFill>
                <a:srgbClr val="000000"/>
              </a:solidFill>
              <a:latin typeface="Arial"/>
              <a:ea typeface="Arial"/>
              <a:cs typeface="Arial"/>
              <a:sym typeface="Arial"/>
            </a:endParaRPr>
          </a:p>
        </p:txBody>
      </p:sp>
      <p:sp>
        <p:nvSpPr>
          <p:cNvPr id="345" name="Google Shape;345;p31"/>
          <p:cNvSpPr/>
          <p:nvPr/>
        </p:nvSpPr>
        <p:spPr>
          <a:xfrm>
            <a:off x="0" y="1188720"/>
            <a:ext cx="12188952" cy="54864"/>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6" name="Google Shape;346;p31"/>
          <p:cNvSpPr/>
          <p:nvPr/>
        </p:nvSpPr>
        <p:spPr>
          <a:xfrm>
            <a:off x="0" y="6565392"/>
            <a:ext cx="12188952" cy="29260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7" name="Google Shape;347;p31"/>
          <p:cNvSpPr txBox="1"/>
          <p:nvPr/>
        </p:nvSpPr>
        <p:spPr>
          <a:xfrm>
            <a:off x="182880" y="6583680"/>
            <a:ext cx="1179576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7F8C8D"/>
                </a:solidFill>
                <a:latin typeface="Calibri"/>
                <a:ea typeface="Calibri"/>
                <a:cs typeface="Calibri"/>
                <a:sym typeface="Calibri"/>
              </a:rPr>
              <a:t>Data-Driven Analysis of Climate Change Indicators  |  CSUB &amp; AVC</a:t>
            </a:r>
            <a:endParaRPr b="0" i="0" sz="1400" u="none" cap="none" strike="noStrike">
              <a:solidFill>
                <a:srgbClr val="000000"/>
              </a:solidFill>
              <a:latin typeface="Arial"/>
              <a:ea typeface="Arial"/>
              <a:cs typeface="Arial"/>
              <a:sym typeface="Arial"/>
            </a:endParaRPr>
          </a:p>
        </p:txBody>
      </p:sp>
      <p:sp>
        <p:nvSpPr>
          <p:cNvPr id="348" name="Google Shape;348;p31"/>
          <p:cNvSpPr/>
          <p:nvPr/>
        </p:nvSpPr>
        <p:spPr>
          <a:xfrm>
            <a:off x="274320" y="1371600"/>
            <a:ext cx="11612880" cy="1481328"/>
          </a:xfrm>
          <a:prstGeom prst="rect">
            <a:avLst/>
          </a:prstGeom>
          <a:solidFill>
            <a:srgbClr val="0D2B4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9" name="Google Shape;349;p31"/>
          <p:cNvSpPr txBox="1"/>
          <p:nvPr/>
        </p:nvSpPr>
        <p:spPr>
          <a:xfrm>
            <a:off x="502920" y="1417320"/>
            <a:ext cx="4572000" cy="38404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27AE60"/>
                </a:solidFill>
                <a:latin typeface="Calibri"/>
                <a:ea typeface="Calibri"/>
                <a:cs typeface="Calibri"/>
                <a:sym typeface="Calibri"/>
              </a:rPr>
              <a:t>Main Conclusion</a:t>
            </a:r>
            <a:endParaRPr b="0" i="0" sz="1400" u="none" cap="none" strike="noStrike">
              <a:solidFill>
                <a:srgbClr val="000000"/>
              </a:solidFill>
              <a:latin typeface="Arial"/>
              <a:ea typeface="Arial"/>
              <a:cs typeface="Arial"/>
              <a:sym typeface="Arial"/>
            </a:endParaRPr>
          </a:p>
        </p:txBody>
      </p:sp>
      <p:sp>
        <p:nvSpPr>
          <p:cNvPr id="350" name="Google Shape;350;p31"/>
          <p:cNvSpPr txBox="1"/>
          <p:nvPr/>
        </p:nvSpPr>
        <p:spPr>
          <a:xfrm>
            <a:off x="502920" y="1801368"/>
            <a:ext cx="11064300" cy="892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FFFFFF"/>
                </a:solidFill>
                <a:latin typeface="Calibri"/>
                <a:ea typeface="Calibri"/>
                <a:cs typeface="Calibri"/>
                <a:sym typeface="Calibri"/>
              </a:rPr>
              <a:t>Statistical tests are tools for finding patterns that are too small or complex to see just by looking at the data. By pairing each research question with the right test — Pearson Correlation for linear relationships, OLS Regression for trends over time, Welch's T-Test for two-group comparisons, One-Way ANOVA for comparing many groups at once, Levene's Test for changes in spread, and Multiple Linear Regression for predicting one variable from several others — we were able to move from raw numbers to evidence-</a:t>
            </a:r>
            <a:r>
              <a:rPr lang="en-US" sz="1300">
                <a:solidFill>
                  <a:srgbClr val="FFFFFF"/>
                </a:solidFill>
                <a:latin typeface="Calibri"/>
                <a:ea typeface="Calibri"/>
                <a:cs typeface="Calibri"/>
                <a:sym typeface="Calibri"/>
              </a:rPr>
              <a:t>based</a:t>
            </a:r>
            <a:r>
              <a:rPr b="0" i="0" lang="en-US" sz="1300" u="none" cap="none" strike="noStrike">
                <a:solidFill>
                  <a:srgbClr val="FFFFFF"/>
                </a:solidFill>
                <a:latin typeface="Calibri"/>
                <a:ea typeface="Calibri"/>
                <a:cs typeface="Calibri"/>
                <a:sym typeface="Calibri"/>
              </a:rPr>
              <a:t> conclusions. Each test filters out random noise and tells us whether what we observe in the data is real or likely just chance.</a:t>
            </a:r>
            <a:endParaRPr b="0" i="0" sz="1400" u="none" cap="none" strike="noStrike">
              <a:solidFill>
                <a:srgbClr val="000000"/>
              </a:solidFill>
              <a:latin typeface="Arial"/>
              <a:ea typeface="Arial"/>
              <a:cs typeface="Arial"/>
              <a:sym typeface="Arial"/>
            </a:endParaRPr>
          </a:p>
        </p:txBody>
      </p:sp>
      <p:sp>
        <p:nvSpPr>
          <p:cNvPr id="351" name="Google Shape;351;p31"/>
          <p:cNvSpPr/>
          <p:nvPr/>
        </p:nvSpPr>
        <p:spPr>
          <a:xfrm>
            <a:off x="320050" y="3017525"/>
            <a:ext cx="11567100" cy="3272100"/>
          </a:xfrm>
          <a:prstGeom prst="rect">
            <a:avLst/>
          </a:prstGeom>
          <a:solidFill>
            <a:srgbClr val="FFFFFF"/>
          </a:solidFill>
          <a:ln cap="flat" cmpd="sng" w="9525">
            <a:solidFill>
              <a:srgbClr val="D6E8F7"/>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2" name="Google Shape;352;p31"/>
          <p:cNvSpPr txBox="1"/>
          <p:nvPr/>
        </p:nvSpPr>
        <p:spPr>
          <a:xfrm>
            <a:off x="319978" y="3197360"/>
            <a:ext cx="57606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D2B4E"/>
                </a:solidFill>
                <a:latin typeface="Calibri"/>
                <a:ea typeface="Calibri"/>
                <a:cs typeface="Calibri"/>
                <a:sym typeface="Calibri"/>
              </a:rPr>
              <a:t>Future Research </a:t>
            </a:r>
            <a:r>
              <a:rPr b="1" lang="en-US" sz="1500">
                <a:solidFill>
                  <a:srgbClr val="0D2B4E"/>
                </a:solidFill>
                <a:latin typeface="Calibri"/>
                <a:ea typeface="Calibri"/>
                <a:cs typeface="Calibri"/>
                <a:sym typeface="Calibri"/>
              </a:rPr>
              <a:t>Recommendations</a:t>
            </a:r>
            <a:endParaRPr b="0" i="0" sz="1400" u="none" cap="none" strike="noStrike">
              <a:solidFill>
                <a:srgbClr val="000000"/>
              </a:solidFill>
              <a:latin typeface="Arial"/>
              <a:ea typeface="Arial"/>
              <a:cs typeface="Arial"/>
              <a:sym typeface="Arial"/>
            </a:endParaRPr>
          </a:p>
        </p:txBody>
      </p:sp>
      <p:sp>
        <p:nvSpPr>
          <p:cNvPr id="353" name="Google Shape;353;p31"/>
          <p:cNvSpPr/>
          <p:nvPr/>
        </p:nvSpPr>
        <p:spPr>
          <a:xfrm>
            <a:off x="338278" y="3520457"/>
            <a:ext cx="5724000" cy="27300"/>
          </a:xfrm>
          <a:prstGeom prst="rect">
            <a:avLst/>
          </a:prstGeom>
          <a:solidFill>
            <a:srgbClr val="1A579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4" name="Google Shape;354;p31"/>
          <p:cNvSpPr txBox="1"/>
          <p:nvPr/>
        </p:nvSpPr>
        <p:spPr>
          <a:xfrm>
            <a:off x="502922" y="3520450"/>
            <a:ext cx="11274300" cy="1754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Run Spearman Correlation alongside Pearson — Spearman does not assume a straight-line relationship, so running both and comparing results tells us whether patterns hold regardless of the data's shape or distribution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Expand from 15 to 50+ countries and extend the time range to 1960–2023 — more records increase statistical power, meaning smaller real effects become detectable and p-values become more reliable and precise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0" i="0" lang="en-US" sz="1400" u="none" cap="none" strike="noStrike">
                <a:solidFill>
                  <a:srgbClr val="2C3E50"/>
                </a:solidFill>
                <a:latin typeface="Calibri"/>
                <a:ea typeface="Calibri"/>
                <a:cs typeface="Calibri"/>
                <a:sym typeface="Calibri"/>
              </a:rPr>
              <a:t>•  Collect monthly rather than annual data — annual averages smooth out seasonal spikes and extreme events; monthly data would allow time-series models like ARIMA to detect trends that are currently hidden inside the yearly average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