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0" y="0"/>
            <a:ext cx="3502152" cy="6858000"/>
          </a:xfrm>
          <a:prstGeom prst="rect">
            <a:avLst/>
          </a:prstGeom>
          <a:solidFill>
            <a:srgbClr val="1A5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38160" y="0"/>
            <a:ext cx="109728" cy="6858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Data-Driven Analysis 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Climate Change Indicators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D6E8F7"/>
                </a:solidFill>
              </a:rPr>
              <a:t>A Multi-Layer Statistical Pipeline for Renewable Energy &amp; CO₂ Analysis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337560"/>
            <a:ext cx="502920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Alex Vartanian
California State University Bakersfield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519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Ammar Abdelmoneam
Antelope Valley College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9144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At a Glance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15400" y="1325880"/>
            <a:ext cx="283464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15400" y="15087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7AE60"/>
                </a:solidFill>
              </a:rPr>
              <a:t>1,000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20116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6E8F7"/>
                </a:solidFill>
              </a:rPr>
              <a:t>country-year
observations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27432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7AE60"/>
                </a:solidFill>
              </a:rPr>
              <a:t>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324612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6E8F7"/>
                </a:solidFill>
              </a:rPr>
              <a:t>countries
covered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3977639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7AE60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4480559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6E8F7"/>
                </a:solidFill>
              </a:rPr>
              <a:t>analytical
layers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52120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7AE60"/>
                </a:solidFill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571500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6E8F7"/>
                </a:solidFill>
              </a:rPr>
              <a:t>hypothesis
tests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263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F8C8D"/>
                </a:solidFill>
              </a:rPr>
              <a:t>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Research Background &amp; Related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6E8F7"/>
                </a:solidFill>
              </a:rPr>
              <a:t>What prior work frames this study?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1A5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83680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</a:rPr>
              <a:t>Data-Driven Analysis of Climate Change Indicators  |  CSUB &amp; AVC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539496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6E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463040"/>
            <a:ext cx="5212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D2B4E"/>
                </a:solidFill>
              </a:rPr>
              <a:t>Why This Study Matters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1810512"/>
            <a:ext cx="5175504" cy="27432"/>
          </a:xfrm>
          <a:prstGeom prst="rect">
            <a:avLst/>
          </a:prstGeom>
          <a:solidFill>
            <a:srgbClr val="1A5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874519"/>
            <a:ext cx="517550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•  International climate commitments (Paris Agreement) require measurable decarbonization evidence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•  Raw climate datasets are inconsistent — country names vary, ranges are unchecked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•  A single statistical test on dirty data is fragile; a layered pipeline is robust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•  Reproducible methodology needed so findings can be independently verified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371600"/>
            <a:ext cx="59436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6E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53328" y="1463040"/>
            <a:ext cx="5760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D2B4E"/>
                </a:solidFill>
              </a:rPr>
              <a:t>Key Related Works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53328" y="1810512"/>
            <a:ext cx="5724144" cy="27432"/>
          </a:xfrm>
          <a:prstGeom prst="rect">
            <a:avLst/>
          </a:prstGeom>
          <a:solidFill>
            <a:srgbClr val="1A5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1874519"/>
            <a:ext cx="572414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•  Ekwurzel et al. (2017) — CO₂ attribution to carbon producers; motivates data provenance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•  Mengel et al. (2018) — committed sea level rise under Paris Agreement targets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•  Chen et al. (2023) — data-driven pathway analysis for climate forecasting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•  IPCC AR6 (2023) — global scientific consensus on warming trajectories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023360"/>
            <a:ext cx="11612880" cy="233172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11480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7AE60"/>
                </a:solidFill>
              </a:rPr>
              <a:t>Research Gap &amp; Contribution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526280"/>
            <a:ext cx="112471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Existing work focuses on individual techniques (attribution models, physical simulations, single regression). This study contributes a reproducible five-layer pipeline — normalization → EDA → segmentation → hypothesis testing → unsupervised clustering — applied to a 1,000-row observational dataset, demonstrating how multiple independent methods collectively build a statistically defensible conclusion.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Dataset &amp; Data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6E8F7"/>
                </a:solidFill>
              </a:rPr>
              <a:t>From flat CSV to verified relational schema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1A5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83680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</a:rPr>
              <a:t>Data-Driven Analysis of Climate Change Indicators  |  CSUB &amp; AVC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2103120" cy="1051560"/>
          </a:xfrm>
          <a:prstGeom prst="rect">
            <a:avLst/>
          </a:prstGeom>
          <a:solidFill>
            <a:srgbClr val="1A5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444752"/>
            <a:ext cx="2103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1,000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96596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6E8F7"/>
                </a:solidFill>
              </a:rPr>
              <a:t>Observations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06039" y="1371600"/>
            <a:ext cx="2103120" cy="1051560"/>
          </a:xfrm>
          <a:prstGeom prst="rect">
            <a:avLst/>
          </a:prstGeom>
          <a:solidFill>
            <a:srgbClr val="1A5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06039" y="1444752"/>
            <a:ext cx="2103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39" y="196596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6E8F7"/>
                </a:solidFill>
              </a:rPr>
              <a:t>Countries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59" y="1371600"/>
            <a:ext cx="2103120" cy="1051560"/>
          </a:xfrm>
          <a:prstGeom prst="rect">
            <a:avLst/>
          </a:prstGeom>
          <a:solidFill>
            <a:srgbClr val="1A5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59" y="1444752"/>
            <a:ext cx="2103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59" y="196596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6E8F7"/>
                </a:solidFill>
              </a:rPr>
              <a:t>Variables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69479" y="1371600"/>
            <a:ext cx="2103120" cy="1051560"/>
          </a:xfrm>
          <a:prstGeom prst="rect">
            <a:avLst/>
          </a:prstGeom>
          <a:solidFill>
            <a:srgbClr val="1A5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69479" y="1444752"/>
            <a:ext cx="2103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79" y="196596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6E8F7"/>
                </a:solidFill>
              </a:rPr>
              <a:t>Missing Values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1371600"/>
            <a:ext cx="2103120" cy="1051560"/>
          </a:xfrm>
          <a:prstGeom prst="rect">
            <a:avLst/>
          </a:prstGeom>
          <a:solidFill>
            <a:srgbClr val="1A5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0" y="1444752"/>
            <a:ext cx="2103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196596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6E8F7"/>
                </a:solidFill>
              </a:rPr>
              <a:t>FK Violations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260604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B4E"/>
                </a:solidFill>
              </a:rPr>
              <a:t>Data Pipeline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017520"/>
            <a:ext cx="2011680" cy="1005840"/>
          </a:xfrm>
          <a:prstGeom prst="rect">
            <a:avLst/>
          </a:prstGeom>
          <a:solidFill>
            <a:srgbClr val="1A5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3044952"/>
            <a:ext cx="4389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7AE60"/>
                </a:solidFill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3044952"/>
            <a:ext cx="1508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Raw CSV
climate_change_dataset.csv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333756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579E"/>
                </a:solidFill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06039" y="3017520"/>
            <a:ext cx="2011680" cy="10058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06039" y="3044952"/>
            <a:ext cx="4389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7AE60"/>
                </a:solidFill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20" y="3044952"/>
            <a:ext cx="1508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SQLite 3NF Schema
countries + climate_data tables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20" y="333756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579E"/>
                </a:solidFill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37759" y="3017520"/>
            <a:ext cx="2011680" cy="1005840"/>
          </a:xfrm>
          <a:prstGeom prst="rect">
            <a:avLst/>
          </a:prstGeom>
          <a:solidFill>
            <a:srgbClr val="1A5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59" y="3044952"/>
            <a:ext cx="4389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7AE60"/>
                </a:solidFill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9240" y="3044952"/>
            <a:ext cx="1508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Constraint Checks
UNIQUE, FK, CHECK constraints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333756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579E"/>
                </a:solidFill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69479" y="3017520"/>
            <a:ext cx="2011680" cy="10058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69479" y="3044952"/>
            <a:ext cx="4389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7AE60"/>
                </a:solidFill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80959" y="3044952"/>
            <a:ext cx="1508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Verification
verify.sql — zero violations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81159" y="333756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579E"/>
                </a:solidFill>
              </a:rPr>
              <a:t>▶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01200" y="3017520"/>
            <a:ext cx="2011680" cy="1005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01200" y="3044952"/>
            <a:ext cx="4389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12680" y="3044952"/>
            <a:ext cx="1508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Analysis-Ready
Notebook loads clean data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4187952"/>
            <a:ext cx="1161288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6E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84048" y="4279392"/>
            <a:ext cx="11430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D2B4E"/>
                </a:solidFill>
              </a:rPr>
              <a:t>Dataset Variables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84048" y="4626864"/>
            <a:ext cx="11393424" cy="27432"/>
          </a:xfrm>
          <a:prstGeom prst="rect">
            <a:avLst/>
          </a:prstGeom>
          <a:solidFill>
            <a:srgbClr val="1A5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4048" y="4690872"/>
            <a:ext cx="1139342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•  Year (2000–2023)  |  Country (15 nations)  |  Avg Temperature (°C)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•  CO₂ Emissions (Tons/Capita)  |  Sea Level Rise (mm)  |  Rainfall (mm)  |  Population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•  Renewable Energy (%)  |  Extreme Weather Events  |  Forest Area (%)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•  Derived: CO₂ Tier (Low/Medium/High)  |  Climate Risk Score (composite z-score)  |  Time Period bins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6E8F7"/>
                </a:solidFill>
              </a:rPr>
              <a:t>Five analytical layers — each adds a distinct form of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1A5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83680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</a:rPr>
              <a:t>Data-Driven Analysis of Climate Change Indicators  |  CSUB &amp; AVC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1371600"/>
            <a:ext cx="2267712" cy="502920"/>
          </a:xfrm>
          <a:prstGeom prst="rect">
            <a:avLst/>
          </a:prstGeom>
          <a:solidFill>
            <a:srgbClr val="1A5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" y="138988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Layer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" y="1627632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Data Integrity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1920240"/>
            <a:ext cx="2267712" cy="4069080"/>
          </a:xfrm>
          <a:prstGeom prst="rect">
            <a:avLst/>
          </a:prstGeom>
          <a:solidFill>
            <a:srgbClr val="FFFFFF"/>
          </a:solidFill>
          <a:ln w="6350">
            <a:solidFill>
              <a:srgbClr val="D6E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" y="2011680"/>
            <a:ext cx="2029968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50">
                <a:solidFill>
                  <a:srgbClr val="2C3E50"/>
                </a:solidFill>
              </a:rPr>
              <a:t>•  3NF SQLite schema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2C3E50"/>
                </a:solidFill>
              </a:rPr>
              <a:t>•  FK + UNIQUE constraints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2C3E50"/>
                </a:solidFill>
              </a:rPr>
              <a:t>•  CHECK on numeric ranges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2C3E50"/>
                </a:solidFill>
              </a:rPr>
              <a:t>•  verify.sql pre-check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87752" y="1371600"/>
            <a:ext cx="2267712" cy="50292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60904" y="138988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Layer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0904" y="1627632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Exploration (EDA)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87752" y="1920240"/>
            <a:ext cx="2267712" cy="4069080"/>
          </a:xfrm>
          <a:prstGeom prst="rect">
            <a:avLst/>
          </a:prstGeom>
          <a:solidFill>
            <a:srgbClr val="FFFFFF"/>
          </a:solidFill>
          <a:ln w="6350">
            <a:solidFill>
              <a:srgbClr val="D6E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97480" y="2011680"/>
            <a:ext cx="2029968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50">
                <a:solidFill>
                  <a:srgbClr val="2C3E50"/>
                </a:solidFill>
              </a:rPr>
              <a:t>•  Histograms per variable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2C3E50"/>
                </a:solidFill>
              </a:rPr>
              <a:t>•  Scatter plots + OLS lines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2C3E50"/>
                </a:solidFill>
              </a:rPr>
              <a:t>•  Pearson heatmap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2C3E50"/>
                </a:solidFill>
              </a:rPr>
              <a:t>•  Time-series line charts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92624" y="1371600"/>
            <a:ext cx="2267712" cy="502920"/>
          </a:xfrm>
          <a:prstGeom prst="rect">
            <a:avLst/>
          </a:prstGeom>
          <a:solidFill>
            <a:srgbClr val="1A5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65776" y="138988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Layer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65776" y="1627632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Segmentation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92624" y="1920240"/>
            <a:ext cx="2267712" cy="4069080"/>
          </a:xfrm>
          <a:prstGeom prst="rect">
            <a:avLst/>
          </a:prstGeom>
          <a:solidFill>
            <a:srgbClr val="FFFFFF"/>
          </a:solidFill>
          <a:ln w="6350">
            <a:solidFill>
              <a:srgbClr val="D6E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02352" y="2011680"/>
            <a:ext cx="2029968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50">
                <a:solidFill>
                  <a:srgbClr val="2C3E50"/>
                </a:solidFill>
              </a:rPr>
              <a:t>•  CO₂ emissions tier (3 bins)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2C3E50"/>
                </a:solidFill>
              </a:rPr>
              <a:t>•  Renewable energy tier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2C3E50"/>
                </a:solidFill>
              </a:rPr>
              <a:t>•  Composite risk score (z-sum)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2C3E50"/>
                </a:solidFill>
              </a:rPr>
              <a:t>•  Country-level means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97496" y="1371600"/>
            <a:ext cx="2267712" cy="50292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70648" y="138988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Layer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70648" y="1627632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Hypothesis Testing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97496" y="1920240"/>
            <a:ext cx="2267712" cy="4069080"/>
          </a:xfrm>
          <a:prstGeom prst="rect">
            <a:avLst/>
          </a:prstGeom>
          <a:solidFill>
            <a:srgbClr val="FFFFFF"/>
          </a:solidFill>
          <a:ln w="6350">
            <a:solidFill>
              <a:srgbClr val="D6E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07223" y="2011680"/>
            <a:ext cx="2029968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50">
                <a:solidFill>
                  <a:srgbClr val="2C3E50"/>
                </a:solidFill>
              </a:rPr>
              <a:t>•  Pearson + Spearman r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2C3E50"/>
                </a:solidFill>
              </a:rPr>
              <a:t>•  Welch t-test (unequal var)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2C3E50"/>
                </a:solidFill>
              </a:rPr>
              <a:t>•  One-way ANOVA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2C3E50"/>
                </a:solidFill>
              </a:rPr>
              <a:t>•  OLS linear regression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02367" y="1371600"/>
            <a:ext cx="2267712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19" y="138988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Layer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19" y="1627632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Unsupervised Validation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02367" y="1920240"/>
            <a:ext cx="2267712" cy="4069080"/>
          </a:xfrm>
          <a:prstGeom prst="rect">
            <a:avLst/>
          </a:prstGeom>
          <a:solidFill>
            <a:srgbClr val="FFFFFF"/>
          </a:solidFill>
          <a:ln w="6350">
            <a:solidFill>
              <a:srgbClr val="D6E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12095" y="2011680"/>
            <a:ext cx="2029968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50">
                <a:solidFill>
                  <a:srgbClr val="2C3E50"/>
                </a:solidFill>
              </a:rPr>
              <a:t>•  KMeans k=4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2C3E50"/>
                </a:solidFill>
              </a:rPr>
              <a:t>•  Standardized features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2C3E50"/>
                </a:solidFill>
              </a:rPr>
              <a:t>•  No labels supplied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2C3E50"/>
                </a:solidFill>
              </a:rPr>
              <a:t>•  Cluster profiles vs. hypotheses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619963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F8C8D"/>
                </a:solidFill>
              </a:rPr>
              <a:t>All hypothesis tests: α = 0.05  |  Both Pearson and Spearman run for every correlation hypothesis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Results — EDA &amp; Correlation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6E8F7"/>
                </a:solidFill>
              </a:rPr>
              <a:t>Heatmap-guided hypothesis focus confirmed by scatter regression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1A5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83680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</a:rPr>
              <a:t>Data-Driven Analysis of Climate Change Indicators  |  CSUB &amp; AVC</a:t>
            </a:r>
          </a:p>
        </p:txBody>
      </p:sp>
      <p:pic>
        <p:nvPicPr>
          <p:cNvPr id="9" name="Picture 8" descr="fig1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25880"/>
            <a:ext cx="5303520" cy="380469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4320" y="49560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7F8C8D"/>
                </a:solidFill>
              </a:rPr>
              <a:t>Fig. 1 — Pearson Correlation Matrix</a:t>
            </a:r>
          </a:p>
        </p:txBody>
      </p:sp>
      <p:pic>
        <p:nvPicPr>
          <p:cNvPr id="11" name="Picture 10" descr="fig2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325880"/>
            <a:ext cx="6035040" cy="411377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852160" y="4956048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7F8C8D"/>
                </a:solidFill>
              </a:rPr>
              <a:t>Fig. 2 — Renewable Energy (%) vs CO₂ Emissions (Tons/Capita)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5376672"/>
            <a:ext cx="11612880" cy="1261872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542239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</a:rPr>
              <a:t>Key Findings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77900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50">
                <a:solidFill>
                  <a:srgbClr val="FFFFFF"/>
                </a:solidFill>
              </a:rPr>
              <a:t>•  Negative cell between Renewable Energy and CO₂ in heatmap directed hypothesis focus before any formal test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FFFFFF"/>
                </a:solidFill>
              </a:rPr>
              <a:t>•  Scatter regression line: r = −0.09, confirming negative linear slope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FFFFFF"/>
                </a:solidFill>
              </a:rPr>
              <a:t>•  Upward trends visible in Avg Temperature and Sea Level Rise time-series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FFFFFF"/>
                </a:solidFill>
              </a:rPr>
              <a:t>•  Forest Area shows expected negative correlation with CO₂ emissions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Results — Statistical Tests, ANOVA &amp; Clustering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6E8F7"/>
                </a:solidFill>
              </a:rPr>
              <a:t>Convergence of five independent methods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1A5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83680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</a:rPr>
              <a:t>Data-Driven Analysis of Climate Change Indicators  |  CSUB &amp; AVC</a:t>
            </a:r>
          </a:p>
        </p:txBody>
      </p:sp>
      <p:pic>
        <p:nvPicPr>
          <p:cNvPr id="9" name="Picture 8" descr="fig3_pval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25880"/>
            <a:ext cx="5943600" cy="29022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4320" y="4617720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7F8C8D"/>
                </a:solidFill>
              </a:rPr>
              <a:t>Fig. 3 — Hypothesis Test p-values (log scale, α = 0.45)</a:t>
            </a:r>
          </a:p>
        </p:txBody>
      </p:sp>
      <p:pic>
        <p:nvPicPr>
          <p:cNvPr id="11" name="Picture 10" descr="fig4_co2_count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25880"/>
            <a:ext cx="5669280" cy="245839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17920" y="461772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7F8C8D"/>
                </a:solidFill>
              </a:rPr>
              <a:t>Fig. 4 — Mean CO₂ by Country + Top/Bottom 3 Emitter Trends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5029200"/>
            <a:ext cx="11612880" cy="1572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5029200"/>
            <a:ext cx="11612880" cy="347472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505663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505663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Hypotheses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505663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505663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Decision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5394960"/>
            <a:ext cx="11612880" cy="292608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5431536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Welch t-test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5431536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High vs Low renewable CO₂ means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5431536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Groups differ significantly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5431536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7AE60"/>
                </a:solidFill>
              </a:rPr>
              <a:t>✅ Reject H0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687568"/>
            <a:ext cx="116128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" y="5724144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ANOVA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5724144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CO₂ emissions across 15 countries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5724144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F significant, p &lt; 0.05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5724144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7AE60"/>
                </a:solidFill>
              </a:rPr>
              <a:t>✅ Reject H0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5980176"/>
            <a:ext cx="11612880" cy="292608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" y="6016752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Linear Reg.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80" y="6016752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Temperature &amp; sea level trend over years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6016752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Positive slope, p &lt; 0.05 both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6016752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7AE60"/>
                </a:solidFill>
              </a:rPr>
              <a:t>✅ Reject H0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6272784"/>
            <a:ext cx="116128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4048" y="6309360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KMeans k=4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11680" y="6309360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Cluster 1: high renewables, low CO₂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6309360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Unsupervised corroboration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0" y="6309360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7AE60"/>
                </a:solidFill>
              </a:rPr>
              <a:t>✅ Confirmed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Conclusion &amp;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6E8F7"/>
                </a:solidFill>
              </a:rPr>
              <a:t>Key takeaways and 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1A5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83680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</a:rPr>
              <a:t>Data-Driven Analysis of Climate Change Indicators  |  CSUB &amp; AVC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11612880" cy="1481328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41732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7AE60"/>
                </a:solidFill>
              </a:rPr>
              <a:t>Main Conclusion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801368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 five-layer analytical pipeline — normalization → EDA → segmentation → hypothesis testing → KMeans clustering — applied to 1,000 country-year observations produced statistically robust evidence that higher renewable energy adoption is associated with significantly lower CO₂ emissions per capita. No single technique produced this finding alone; the conclusion emerges from the convergence of five independent methods pointing in the same direction.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17520"/>
            <a:ext cx="539496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3108960"/>
            <a:ext cx="5212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D2B4E"/>
                </a:solidFill>
              </a:rPr>
              <a:t>Lessons Learned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3456432"/>
            <a:ext cx="5175504" cy="27432"/>
          </a:xfrm>
          <a:prstGeom prst="rect">
            <a:avLst/>
          </a:prstGeom>
          <a:solidFill>
            <a:srgbClr val="1A5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3520439"/>
            <a:ext cx="5175504" cy="2148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•  Schema enforcement is an analytical decision — it determines whether downstream statistics are trustworthy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•  EDA should precede hypothesis selection: the heatmap guided focus before tests were specified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•  Running both Pearson and Spearman on the same hypothesis is a low-cost robustness check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•  Unsupervised methods (KMeans) serve as a bias-free independent check on hypothesis-driven findings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•  Country-year aggregation masks sub-national variation — a key limitation to address in future work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3017520"/>
            <a:ext cx="594360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53328" y="3108960"/>
            <a:ext cx="5760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D2B4E"/>
                </a:solidFill>
              </a:rPr>
              <a:t>Future Research Directions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53328" y="3456432"/>
            <a:ext cx="5724144" cy="27432"/>
          </a:xfrm>
          <a:prstGeom prst="rect">
            <a:avLst/>
          </a:prstGeom>
          <a:solidFill>
            <a:srgbClr val="1A5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53328" y="3520439"/>
            <a:ext cx="5724144" cy="2148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•  Causal inference — Granger causality or instrumental variables to move beyond correlation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•  Finer temporal resolution — monthly data to enable seasonal decomposition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•  Additional confounders — join GDP per capita and energy policy indices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•  Forecasting — LSTM or Prophet models for temperature and sea level projections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•  Optimal k validation — elbow plot and silhouette score to choose KMeans k empirically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