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2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theme+xml" PartName="/ppt/theme/theme3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70" r:id="rId4"/>
    <p:sldMasterId id="2147483671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y="6858000" cx="1218895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3.xml"/><Relationship Id="rId5" Type="http://schemas.openxmlformats.org/officeDocument/2006/relationships/slideMaster" Target="slideMasters/slideMaster2.xml"/><Relationship Id="rId6" Type="http://schemas.openxmlformats.org/officeDocument/2006/relationships/notesMaster" Target="notesMasters/notes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g3f2dce1b9a2_2_7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57" name="Google Shape;157;g3f2dce1b9a2_2_7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9" name="Shape 1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Google Shape;180;g3f2e60c906c_4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181" name="Google Shape;181;g3f2e60c906c_4_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3f2dce1b9a2_2_12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03" name="Google Shape;203;g3f2dce1b9a2_2_12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g3f2dce1b9a2_2_16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53" name="Google Shape;253;g3f2dce1b9a2_2_169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8" name="Shape 2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Google Shape;289;g3f2e7e7a8fb_1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290" name="Google Shape;290;g3f2e7e7a8fb_1_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g3f2dce1b9a2_2_22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08" name="Google Shape;308;g3f2dce1b9a2_2_22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g3f2e60c906c_6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  <p:sp>
        <p:nvSpPr>
          <p:cNvPr id="340" name="Google Shape;340;g3f2e60c906c_6_0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3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3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4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5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5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6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6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7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7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7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7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7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9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9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9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0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0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0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1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2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2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5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2" name="Google Shape;92;p15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93" name="Google Shape;93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4" name="Google Shape;94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96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8" name="Google Shape;98;p1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99" name="Google Shape;99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0" name="Google Shape;100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1" name="Google Shape;101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17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4" name="Google Shape;104;p17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05" name="Google Shape;105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6" name="Google Shape;106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07" name="Google Shape;107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18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0" name="Google Shape;110;p18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11" name="Google Shape;111;p18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112" name="Google Shape;112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3" name="Google Shape;113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4" name="Google Shape;114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17" name="Google Shape;117;p19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18" name="Google Shape;118;p19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19" name="Google Shape;119;p19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120" name="Google Shape;120;p19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lnSpc>
                <a:spcPct val="100000"/>
              </a:lnSpc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121" name="Google Shape;12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2" name="Google Shape;12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20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6" name="Google Shape;126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7" name="Google Shape;127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8" name="Google Shape;128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21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1" name="Google Shape;131;p21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132" name="Google Shape;132;p21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33" name="Google Shape;133;p2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4" name="Google Shape;134;p2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5" name="Google Shape;135;p2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22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8" name="Google Shape;138;p22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139" name="Google Shape;139;p22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lnSpc>
                <a:spcPct val="100000"/>
              </a:lnSpc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140" name="Google Shape;140;p2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1" name="Google Shape;141;p2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2" name="Google Shape;142;p2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2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5" name="Google Shape;145;p23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6" name="Google Shape;146;p2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7" name="Google Shape;147;p2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8" name="Google Shape;148;p2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24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1" name="Google Shape;151;p24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100000"/>
              </a:lnSpc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2" name="Google Shape;152;p2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3" name="Google Shape;153;p2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2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_rels/slideMaster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11" Type="http://schemas.openxmlformats.org/officeDocument/2006/relationships/slideLayout" Target="../slideLayouts/slideLayout22.xml"/><Relationship Id="rId10" Type="http://schemas.openxmlformats.org/officeDocument/2006/relationships/slideLayout" Target="../slideLayouts/slideLayout21.xml"/><Relationship Id="rId12" Type="http://schemas.openxmlformats.org/officeDocument/2006/relationships/theme" Target="../theme/theme3.xml"/><Relationship Id="rId9" Type="http://schemas.openxmlformats.org/officeDocument/2006/relationships/slideLayout" Target="../slideLayouts/slideLayout20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2" name="Google Shape;82;p13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lnSpc>
                <a:spcPct val="100000"/>
              </a:lnSpc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lnSpc>
                <a:spcPct val="100000"/>
              </a:lnSpc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lnSpc>
                <a:spcPct val="100000"/>
              </a:lnSpc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3" name="Google Shape;83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4" name="Google Shape;84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5" name="Google Shape;85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65" r:id="rId7"/>
    <p:sldLayoutId id="2147483666" r:id="rId8"/>
    <p:sldLayoutId id="2147483667" r:id="rId9"/>
    <p:sldLayoutId id="2147483668" r:id="rId10"/>
    <p:sldLayoutId id="214748366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5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25"/>
          <p:cNvSpPr/>
          <p:nvPr/>
        </p:nvSpPr>
        <p:spPr>
          <a:xfrm>
            <a:off x="8686800" y="0"/>
            <a:ext cx="3502152" cy="6858000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1" name="Google Shape;161;p25"/>
          <p:cNvSpPr/>
          <p:nvPr/>
        </p:nvSpPr>
        <p:spPr>
          <a:xfrm>
            <a:off x="8138160" y="0"/>
            <a:ext cx="109728" cy="6858000"/>
          </a:xfrm>
          <a:prstGeom prst="rect">
            <a:avLst/>
          </a:prstGeom>
          <a:solidFill>
            <a:srgbClr val="27AE6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25"/>
          <p:cNvSpPr txBox="1"/>
          <p:nvPr/>
        </p:nvSpPr>
        <p:spPr>
          <a:xfrm>
            <a:off x="457200" y="109728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Data-Driven Analysis of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3" name="Google Shape;163;p25"/>
          <p:cNvSpPr txBox="1"/>
          <p:nvPr/>
        </p:nvSpPr>
        <p:spPr>
          <a:xfrm>
            <a:off x="457200" y="1737360"/>
            <a:ext cx="82296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400"/>
              <a:buFont typeface="Arial"/>
              <a:buNone/>
            </a:pPr>
            <a:r>
              <a:rPr b="1" i="0" lang="en-US" sz="3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Climate Change Indicators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25"/>
          <p:cNvSpPr txBox="1"/>
          <p:nvPr/>
        </p:nvSpPr>
        <p:spPr>
          <a:xfrm>
            <a:off x="457200" y="2606040"/>
            <a:ext cx="80466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1" lang="en-US" sz="18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A Multi-Layer Statistical Pipeline for </a:t>
            </a:r>
            <a:r>
              <a:rPr i="1" lang="en-US" sz="1800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Climate Change</a:t>
            </a:r>
            <a:r>
              <a:rPr b="0" i="1" lang="en-US" sz="18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 Analysis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5" name="Google Shape;165;p25"/>
          <p:cNvSpPr/>
          <p:nvPr/>
        </p:nvSpPr>
        <p:spPr>
          <a:xfrm>
            <a:off x="457200" y="3337560"/>
            <a:ext cx="5029200" cy="54864"/>
          </a:xfrm>
          <a:prstGeom prst="rect">
            <a:avLst/>
          </a:prstGeom>
          <a:solidFill>
            <a:srgbClr val="27AE6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6" name="Google Shape;166;p25"/>
          <p:cNvSpPr txBox="1"/>
          <p:nvPr/>
        </p:nvSpPr>
        <p:spPr>
          <a:xfrm>
            <a:off x="457200" y="3520440"/>
            <a:ext cx="5029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Alex Vartanian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California State University Bakersfield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7" name="Google Shape;167;p25"/>
          <p:cNvSpPr txBox="1"/>
          <p:nvPr/>
        </p:nvSpPr>
        <p:spPr>
          <a:xfrm>
            <a:off x="457200" y="4251960"/>
            <a:ext cx="5029200" cy="7315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Ammar Abdelmoneam</a:t>
            </a:r>
            <a:b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4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Antelope Valley College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25"/>
          <p:cNvSpPr txBox="1"/>
          <p:nvPr/>
        </p:nvSpPr>
        <p:spPr>
          <a:xfrm>
            <a:off x="8915400" y="914400"/>
            <a:ext cx="301752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b="1" i="0" lang="en-US" sz="16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At a Glance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9" name="Google Shape;169;p25"/>
          <p:cNvSpPr/>
          <p:nvPr/>
        </p:nvSpPr>
        <p:spPr>
          <a:xfrm>
            <a:off x="8915400" y="1325880"/>
            <a:ext cx="2834640" cy="36576"/>
          </a:xfrm>
          <a:prstGeom prst="rect">
            <a:avLst/>
          </a:prstGeom>
          <a:solidFill>
            <a:srgbClr val="FFFFFF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25"/>
          <p:cNvSpPr txBox="1"/>
          <p:nvPr/>
        </p:nvSpPr>
        <p:spPr>
          <a:xfrm>
            <a:off x="8915400" y="150876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1,000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25"/>
          <p:cNvSpPr txBox="1"/>
          <p:nvPr/>
        </p:nvSpPr>
        <p:spPr>
          <a:xfrm>
            <a:off x="8915400" y="2011680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country-year</a:t>
            </a:r>
            <a:b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observations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25"/>
          <p:cNvSpPr txBox="1"/>
          <p:nvPr/>
        </p:nvSpPr>
        <p:spPr>
          <a:xfrm>
            <a:off x="8915400" y="274320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25"/>
          <p:cNvSpPr txBox="1"/>
          <p:nvPr/>
        </p:nvSpPr>
        <p:spPr>
          <a:xfrm>
            <a:off x="8915400" y="3246120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countries</a:t>
            </a:r>
            <a:b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covered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25"/>
          <p:cNvSpPr txBox="1"/>
          <p:nvPr/>
        </p:nvSpPr>
        <p:spPr>
          <a:xfrm>
            <a:off x="8915400" y="3977639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5" name="Google Shape;175;p25"/>
          <p:cNvSpPr txBox="1"/>
          <p:nvPr/>
        </p:nvSpPr>
        <p:spPr>
          <a:xfrm>
            <a:off x="8915400" y="4480559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analytical</a:t>
            </a:r>
            <a:b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layers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6" name="Google Shape;176;p25"/>
          <p:cNvSpPr txBox="1"/>
          <p:nvPr/>
        </p:nvSpPr>
        <p:spPr>
          <a:xfrm>
            <a:off x="8915400" y="5212080"/>
            <a:ext cx="3017520" cy="5486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600"/>
              <a:buFont typeface="Arial"/>
              <a:buNone/>
            </a:pPr>
            <a:r>
              <a:rPr b="1" i="0" lang="en-US" sz="36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8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7" name="Google Shape;177;p25"/>
          <p:cNvSpPr txBox="1"/>
          <p:nvPr/>
        </p:nvSpPr>
        <p:spPr>
          <a:xfrm>
            <a:off x="8915400" y="5715000"/>
            <a:ext cx="3017520" cy="5029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hypothesis</a:t>
            </a:r>
            <a:b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tests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5"/>
          <p:cNvSpPr txBox="1"/>
          <p:nvPr/>
        </p:nvSpPr>
        <p:spPr>
          <a:xfrm>
            <a:off x="457200" y="6263640"/>
            <a:ext cx="365760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June 2026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26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4" name="Google Shape;184;p26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5" name="Google Shape;185;p26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Statistical Test Selection &amp; Rationale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6" name="Google Shape;186;p26"/>
          <p:cNvSpPr txBox="1"/>
          <p:nvPr/>
        </p:nvSpPr>
        <p:spPr>
          <a:xfrm>
            <a:off x="320040" y="713232"/>
            <a:ext cx="11430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Why did we choose each test and what does each one measure?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7" name="Google Shape;187;p26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8" name="Google Shape;188;p2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89" name="Google Shape;189;p26"/>
          <p:cNvSpPr txBox="1"/>
          <p:nvPr/>
        </p:nvSpPr>
        <p:spPr>
          <a:xfrm>
            <a:off x="182880" y="6583680"/>
            <a:ext cx="11795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Data-Driven Analysis of Climate Change Indicators  |  CSUB &amp; AVC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0" name="Google Shape;190;p26"/>
          <p:cNvSpPr/>
          <p:nvPr/>
        </p:nvSpPr>
        <p:spPr>
          <a:xfrm>
            <a:off x="274325" y="1371600"/>
            <a:ext cx="5394900" cy="2610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E8F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1" name="Google Shape;191;p26"/>
          <p:cNvSpPr txBox="1"/>
          <p:nvPr/>
        </p:nvSpPr>
        <p:spPr>
          <a:xfrm>
            <a:off x="384048" y="1463040"/>
            <a:ext cx="521208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D2B4E"/>
                </a:solidFill>
                <a:latin typeface="Calibri"/>
                <a:ea typeface="Calibri"/>
                <a:cs typeface="Calibri"/>
                <a:sym typeface="Calibri"/>
              </a:rPr>
              <a:t>Tests for Relationships &amp; Trends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6"/>
          <p:cNvSpPr/>
          <p:nvPr/>
        </p:nvSpPr>
        <p:spPr>
          <a:xfrm>
            <a:off x="384048" y="1810512"/>
            <a:ext cx="5175504" cy="27432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3" name="Google Shape;193;p26"/>
          <p:cNvSpPr txBox="1"/>
          <p:nvPr/>
        </p:nvSpPr>
        <p:spPr>
          <a:xfrm>
            <a:off x="384048" y="1874519"/>
            <a:ext cx="5175600" cy="2832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Pearson Correlation — used when both variables are continuous (e.g. CO₂ vs Temperature). Measures the strength and direction of a linear relationship, giving us r and a p-value to test against α = 0.10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 Linear Regression — used when we want to quantify a trend over time (e.g. temperature by year). The slope tells us the rate of change and the p-value tells us if that trend is statistically real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Welch's T-Test — used when comparing two groups with unequal variance (e.g. high vs low renewable countries). More reliable than a standard t-test when group sizes or spreads differ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One-Way ANOVA — used when comparing means across three or more groups (e.g. CO₂ across all 15 countries). A significant F-statistic means at least one country is different from the rest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6"/>
          <p:cNvSpPr/>
          <p:nvPr/>
        </p:nvSpPr>
        <p:spPr>
          <a:xfrm>
            <a:off x="5943600" y="1371600"/>
            <a:ext cx="5943600" cy="26106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E8F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5" name="Google Shape;195;p26"/>
          <p:cNvSpPr txBox="1"/>
          <p:nvPr/>
        </p:nvSpPr>
        <p:spPr>
          <a:xfrm>
            <a:off x="6053328" y="1463040"/>
            <a:ext cx="57607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D2B4E"/>
                </a:solidFill>
                <a:latin typeface="Calibri"/>
                <a:ea typeface="Calibri"/>
                <a:cs typeface="Calibri"/>
                <a:sym typeface="Calibri"/>
              </a:rPr>
              <a:t>Tests for Variance, Groups &amp; Prediction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6"/>
          <p:cNvSpPr/>
          <p:nvPr/>
        </p:nvSpPr>
        <p:spPr>
          <a:xfrm>
            <a:off x="6053328" y="1810512"/>
            <a:ext cx="5724144" cy="27432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7" name="Google Shape;197;p26"/>
          <p:cNvSpPr txBox="1"/>
          <p:nvPr/>
        </p:nvSpPr>
        <p:spPr>
          <a:xfrm>
            <a:off x="6071691" y="1786919"/>
            <a:ext cx="5724000" cy="2196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Levene's Test — used to check whether the spread (variance) of a variable changed across time periods. Chosen because it does not assume normality, making it appropriate for real-world climate data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Multiple Linear Regression (MLR) — used when predicting one variable from several others simultaneously (e.g. predicting sea-level rise from CO₂ + rainfall + temperature). R² shows how much variance the model explains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3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Significance Threshold α = 0.10 — set before any tests were run. At this level, we accept up to a 10% chance of a false positive, which is appropriate for exploratory research where the goal is generating hypotheses rather than confirming established theory</a:t>
            </a:r>
            <a:endParaRPr b="0" i="0" sz="13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8" name="Google Shape;198;p26"/>
          <p:cNvSpPr/>
          <p:nvPr/>
        </p:nvSpPr>
        <p:spPr>
          <a:xfrm>
            <a:off x="274320" y="4023360"/>
            <a:ext cx="11612880" cy="2331720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9" name="Google Shape;199;p26"/>
          <p:cNvSpPr txBox="1"/>
          <p:nvPr/>
        </p:nvSpPr>
        <p:spPr>
          <a:xfrm>
            <a:off x="502920" y="4114800"/>
            <a:ext cx="640080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How We Matched Each Question to the Right Test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0" name="Google Shape;200;p26"/>
          <p:cNvSpPr txBox="1"/>
          <p:nvPr/>
        </p:nvSpPr>
        <p:spPr>
          <a:xfrm>
            <a:off x="502920" y="4526280"/>
            <a:ext cx="11247120" cy="16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Each research question was assigned a test based on the type of data and what we were trying to find out. Questions about trends over time → OLS Regression. Questions comparing two groups → Welch's T-Test. Questions comparing many groups → ANOVA. Questions about the relationship between two continuous variables → Pearson Correlation. Questions about whether spread changed → Levene's Test. Questions predicting one variable from many → Multiple Linear Regression. Running the right test for the right question is what makes the results meaningful.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7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6" name="Google Shape;206;p27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7" name="Google Shape;207;p27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Dataset &amp; Data Pipeline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p27"/>
          <p:cNvSpPr txBox="1"/>
          <p:nvPr/>
        </p:nvSpPr>
        <p:spPr>
          <a:xfrm>
            <a:off x="320040" y="713232"/>
            <a:ext cx="11430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From flat CSV to verified relational schema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p27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0" name="Google Shape;210;p27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1" name="Google Shape;211;p27"/>
          <p:cNvSpPr txBox="1"/>
          <p:nvPr/>
        </p:nvSpPr>
        <p:spPr>
          <a:xfrm>
            <a:off x="182880" y="6583680"/>
            <a:ext cx="11795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Data-Driven Analysis of Climate Change Indicators  |  CSUB &amp; AVC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2" name="Google Shape;212;p27"/>
          <p:cNvSpPr/>
          <p:nvPr/>
        </p:nvSpPr>
        <p:spPr>
          <a:xfrm>
            <a:off x="274320" y="1371600"/>
            <a:ext cx="2103120" cy="1051560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3" name="Google Shape;213;p27"/>
          <p:cNvSpPr txBox="1"/>
          <p:nvPr/>
        </p:nvSpPr>
        <p:spPr>
          <a:xfrm>
            <a:off x="274320" y="1444752"/>
            <a:ext cx="2103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1,000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4" name="Google Shape;214;p27"/>
          <p:cNvSpPr txBox="1"/>
          <p:nvPr/>
        </p:nvSpPr>
        <p:spPr>
          <a:xfrm>
            <a:off x="274320" y="1965960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Observations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5" name="Google Shape;215;p27"/>
          <p:cNvSpPr/>
          <p:nvPr/>
        </p:nvSpPr>
        <p:spPr>
          <a:xfrm>
            <a:off x="2606039" y="1371600"/>
            <a:ext cx="2103120" cy="1051560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6" name="Google Shape;216;p27"/>
          <p:cNvSpPr txBox="1"/>
          <p:nvPr/>
        </p:nvSpPr>
        <p:spPr>
          <a:xfrm>
            <a:off x="2606039" y="1444752"/>
            <a:ext cx="2103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7"/>
          <p:cNvSpPr txBox="1"/>
          <p:nvPr/>
        </p:nvSpPr>
        <p:spPr>
          <a:xfrm>
            <a:off x="2606039" y="1965960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Countries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27"/>
          <p:cNvSpPr/>
          <p:nvPr/>
        </p:nvSpPr>
        <p:spPr>
          <a:xfrm>
            <a:off x="4937759" y="1371600"/>
            <a:ext cx="2103120" cy="1051560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9" name="Google Shape;219;p27"/>
          <p:cNvSpPr txBox="1"/>
          <p:nvPr/>
        </p:nvSpPr>
        <p:spPr>
          <a:xfrm>
            <a:off x="4937759" y="1444752"/>
            <a:ext cx="2103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10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0" name="Google Shape;220;p27"/>
          <p:cNvSpPr txBox="1"/>
          <p:nvPr/>
        </p:nvSpPr>
        <p:spPr>
          <a:xfrm>
            <a:off x="4937759" y="1965960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Variables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1" name="Google Shape;221;p27"/>
          <p:cNvSpPr/>
          <p:nvPr/>
        </p:nvSpPr>
        <p:spPr>
          <a:xfrm>
            <a:off x="7269479" y="1371600"/>
            <a:ext cx="2103120" cy="1051560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2" name="Google Shape;222;p27"/>
          <p:cNvSpPr txBox="1"/>
          <p:nvPr/>
        </p:nvSpPr>
        <p:spPr>
          <a:xfrm>
            <a:off x="7269479" y="1444752"/>
            <a:ext cx="2103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3" name="Google Shape;223;p27"/>
          <p:cNvSpPr txBox="1"/>
          <p:nvPr/>
        </p:nvSpPr>
        <p:spPr>
          <a:xfrm>
            <a:off x="7269479" y="1965960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Missing Values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4" name="Google Shape;224;p27"/>
          <p:cNvSpPr/>
          <p:nvPr/>
        </p:nvSpPr>
        <p:spPr>
          <a:xfrm>
            <a:off x="9601200" y="1371600"/>
            <a:ext cx="2103120" cy="1051560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5" name="Google Shape;225;p27"/>
          <p:cNvSpPr txBox="1"/>
          <p:nvPr/>
        </p:nvSpPr>
        <p:spPr>
          <a:xfrm>
            <a:off x="9601200" y="1444752"/>
            <a:ext cx="2103120" cy="56692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6" name="Google Shape;226;p27"/>
          <p:cNvSpPr txBox="1"/>
          <p:nvPr/>
        </p:nvSpPr>
        <p:spPr>
          <a:xfrm>
            <a:off x="9601200" y="1965960"/>
            <a:ext cx="210312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b="0" i="0" lang="en-US" sz="12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FK Violations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7" name="Google Shape;227;p27"/>
          <p:cNvSpPr txBox="1"/>
          <p:nvPr/>
        </p:nvSpPr>
        <p:spPr>
          <a:xfrm>
            <a:off x="274320" y="2606040"/>
            <a:ext cx="36576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D2B4E"/>
                </a:solidFill>
                <a:latin typeface="Calibri"/>
                <a:ea typeface="Calibri"/>
                <a:cs typeface="Calibri"/>
                <a:sym typeface="Calibri"/>
              </a:rPr>
              <a:t>Data Pipeline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8" name="Google Shape;228;p27"/>
          <p:cNvSpPr/>
          <p:nvPr/>
        </p:nvSpPr>
        <p:spPr>
          <a:xfrm>
            <a:off x="274320" y="3017520"/>
            <a:ext cx="2011680" cy="1005840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29" name="Google Shape;229;p27"/>
          <p:cNvSpPr txBox="1"/>
          <p:nvPr/>
        </p:nvSpPr>
        <p:spPr>
          <a:xfrm>
            <a:off x="274320" y="3044952"/>
            <a:ext cx="43891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0" name="Google Shape;230;p27"/>
          <p:cNvSpPr txBox="1"/>
          <p:nvPr/>
        </p:nvSpPr>
        <p:spPr>
          <a:xfrm>
            <a:off x="685800" y="3044952"/>
            <a:ext cx="15087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Raw CSV</a:t>
            </a:r>
            <a:b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climate_change_dataset.csv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1" name="Google Shape;231;p27"/>
          <p:cNvSpPr txBox="1"/>
          <p:nvPr/>
        </p:nvSpPr>
        <p:spPr>
          <a:xfrm>
            <a:off x="2286000" y="3337560"/>
            <a:ext cx="320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1A579E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2" name="Google Shape;232;p27"/>
          <p:cNvSpPr/>
          <p:nvPr/>
        </p:nvSpPr>
        <p:spPr>
          <a:xfrm>
            <a:off x="2606039" y="3017520"/>
            <a:ext cx="2011680" cy="1005840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3" name="Google Shape;233;p27"/>
          <p:cNvSpPr txBox="1"/>
          <p:nvPr/>
        </p:nvSpPr>
        <p:spPr>
          <a:xfrm>
            <a:off x="2606039" y="3044952"/>
            <a:ext cx="43891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4" name="Google Shape;234;p27"/>
          <p:cNvSpPr txBox="1"/>
          <p:nvPr/>
        </p:nvSpPr>
        <p:spPr>
          <a:xfrm>
            <a:off x="3017520" y="3044952"/>
            <a:ext cx="15087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SQLite 3NF Schema</a:t>
            </a:r>
            <a:b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countries + climate_data tables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5" name="Google Shape;235;p27"/>
          <p:cNvSpPr txBox="1"/>
          <p:nvPr/>
        </p:nvSpPr>
        <p:spPr>
          <a:xfrm>
            <a:off x="4617720" y="3337560"/>
            <a:ext cx="320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1A579E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6" name="Google Shape;236;p27"/>
          <p:cNvSpPr/>
          <p:nvPr/>
        </p:nvSpPr>
        <p:spPr>
          <a:xfrm>
            <a:off x="4937759" y="3017520"/>
            <a:ext cx="2011680" cy="1005840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37" name="Google Shape;237;p27"/>
          <p:cNvSpPr txBox="1"/>
          <p:nvPr/>
        </p:nvSpPr>
        <p:spPr>
          <a:xfrm>
            <a:off x="4937759" y="3044952"/>
            <a:ext cx="43891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8" name="Google Shape;238;p27"/>
          <p:cNvSpPr txBox="1"/>
          <p:nvPr/>
        </p:nvSpPr>
        <p:spPr>
          <a:xfrm>
            <a:off x="5349240" y="3044952"/>
            <a:ext cx="15087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Constraint Checks</a:t>
            </a:r>
            <a:b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UNIQUE, FK, CHECK constraints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9" name="Google Shape;239;p27"/>
          <p:cNvSpPr txBox="1"/>
          <p:nvPr/>
        </p:nvSpPr>
        <p:spPr>
          <a:xfrm>
            <a:off x="6949440" y="3337560"/>
            <a:ext cx="320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1A579E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0" name="Google Shape;240;p27"/>
          <p:cNvSpPr/>
          <p:nvPr/>
        </p:nvSpPr>
        <p:spPr>
          <a:xfrm>
            <a:off x="7269479" y="3017520"/>
            <a:ext cx="2011680" cy="1005840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1" name="Google Shape;241;p27"/>
          <p:cNvSpPr txBox="1"/>
          <p:nvPr/>
        </p:nvSpPr>
        <p:spPr>
          <a:xfrm>
            <a:off x="7269479" y="3044952"/>
            <a:ext cx="43891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2" name="Google Shape;242;p27"/>
          <p:cNvSpPr txBox="1"/>
          <p:nvPr/>
        </p:nvSpPr>
        <p:spPr>
          <a:xfrm>
            <a:off x="7680959" y="3044952"/>
            <a:ext cx="15087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Verification</a:t>
            </a:r>
            <a:b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verify.sql — zero violations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3" name="Google Shape;243;p27"/>
          <p:cNvSpPr txBox="1"/>
          <p:nvPr/>
        </p:nvSpPr>
        <p:spPr>
          <a:xfrm>
            <a:off x="9281159" y="3337560"/>
            <a:ext cx="320040" cy="411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b="0" i="0" lang="en-US" sz="1800" u="none" cap="none" strike="noStrike">
                <a:solidFill>
                  <a:srgbClr val="1A579E"/>
                </a:solidFill>
                <a:latin typeface="Calibri"/>
                <a:ea typeface="Calibri"/>
                <a:cs typeface="Calibri"/>
                <a:sym typeface="Calibri"/>
              </a:rPr>
              <a:t>▶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4" name="Google Shape;244;p27"/>
          <p:cNvSpPr/>
          <p:nvPr/>
        </p:nvSpPr>
        <p:spPr>
          <a:xfrm>
            <a:off x="9601200" y="3017520"/>
            <a:ext cx="2011680" cy="1005840"/>
          </a:xfrm>
          <a:prstGeom prst="rect">
            <a:avLst/>
          </a:prstGeom>
          <a:solidFill>
            <a:srgbClr val="27AE6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5" name="Google Shape;245;p27"/>
          <p:cNvSpPr txBox="1"/>
          <p:nvPr/>
        </p:nvSpPr>
        <p:spPr>
          <a:xfrm>
            <a:off x="9601200" y="3044952"/>
            <a:ext cx="438912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None/>
            </a:pPr>
            <a:r>
              <a:rPr b="1" i="0" lang="en-US" sz="2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27"/>
          <p:cNvSpPr txBox="1"/>
          <p:nvPr/>
        </p:nvSpPr>
        <p:spPr>
          <a:xfrm>
            <a:off x="10012680" y="3044952"/>
            <a:ext cx="1508760" cy="9144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50"/>
              <a:buFont typeface="Arial"/>
              <a:buNone/>
            </a:pP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Analysis-Ready</a:t>
            </a:r>
            <a:b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0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Notebook loads clean data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7" name="Google Shape;247;p27"/>
          <p:cNvSpPr/>
          <p:nvPr/>
        </p:nvSpPr>
        <p:spPr>
          <a:xfrm>
            <a:off x="274320" y="4187952"/>
            <a:ext cx="11612880" cy="237744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E8F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48" name="Google Shape;248;p27"/>
          <p:cNvSpPr txBox="1"/>
          <p:nvPr/>
        </p:nvSpPr>
        <p:spPr>
          <a:xfrm>
            <a:off x="384048" y="4279392"/>
            <a:ext cx="11430000" cy="3474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D2B4E"/>
                </a:solidFill>
                <a:latin typeface="Calibri"/>
                <a:ea typeface="Calibri"/>
                <a:cs typeface="Calibri"/>
                <a:sym typeface="Calibri"/>
              </a:rPr>
              <a:t>Dataset Variables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9" name="Google Shape;249;p27"/>
          <p:cNvSpPr/>
          <p:nvPr/>
        </p:nvSpPr>
        <p:spPr>
          <a:xfrm>
            <a:off x="384048" y="4626864"/>
            <a:ext cx="11393424" cy="27432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0" name="Google Shape;250;p27"/>
          <p:cNvSpPr txBox="1"/>
          <p:nvPr/>
        </p:nvSpPr>
        <p:spPr>
          <a:xfrm>
            <a:off x="384048" y="4690872"/>
            <a:ext cx="11393424" cy="1737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Year (2000–2023)  |  Country (15 nations)  |  Avg Temperature (°C)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CO₂ Emissions (Tons/Capita)  |  Sea Level Rise (mm)  |  Rainfall (mm)  |  Population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Renewable Energy (%)  |  Extreme Weather Events  |  Forest Area (%)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Derived: CO₂ Tier (Low/Medium/High)  |  Climate Risk Score (composite z-score)  |  Time Period bins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28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6" name="Google Shape;256;p28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57" name="Google Shape;257;p28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Methodology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8" name="Google Shape;258;p28"/>
          <p:cNvSpPr txBox="1"/>
          <p:nvPr/>
        </p:nvSpPr>
        <p:spPr>
          <a:xfrm>
            <a:off x="320040" y="713232"/>
            <a:ext cx="11430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Five analytical layers — each adds a distinct form of evidence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28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0" name="Google Shape;260;p28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1" name="Google Shape;261;p28"/>
          <p:cNvSpPr txBox="1"/>
          <p:nvPr/>
        </p:nvSpPr>
        <p:spPr>
          <a:xfrm>
            <a:off x="182880" y="6583680"/>
            <a:ext cx="11795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Data-Driven Analysis of Climate Change Indicators  |  CSUB &amp; AVC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2" name="Google Shape;262;p28"/>
          <p:cNvSpPr/>
          <p:nvPr/>
        </p:nvSpPr>
        <p:spPr>
          <a:xfrm>
            <a:off x="182880" y="1371600"/>
            <a:ext cx="2267712" cy="502920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3" name="Google Shape;263;p28"/>
          <p:cNvSpPr txBox="1"/>
          <p:nvPr/>
        </p:nvSpPr>
        <p:spPr>
          <a:xfrm>
            <a:off x="256032" y="1389888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 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28"/>
          <p:cNvSpPr txBox="1"/>
          <p:nvPr/>
        </p:nvSpPr>
        <p:spPr>
          <a:xfrm>
            <a:off x="256032" y="1627632"/>
            <a:ext cx="2103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Data Integrity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28"/>
          <p:cNvSpPr/>
          <p:nvPr/>
        </p:nvSpPr>
        <p:spPr>
          <a:xfrm>
            <a:off x="182880" y="1920240"/>
            <a:ext cx="2267712" cy="40690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E8F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6" name="Google Shape;266;p28"/>
          <p:cNvSpPr txBox="1"/>
          <p:nvPr/>
        </p:nvSpPr>
        <p:spPr>
          <a:xfrm>
            <a:off x="292608" y="2011680"/>
            <a:ext cx="2029968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3NF SQLite schema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FK + UNIQUE constraints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CHECK on numeric ranges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verify.sql pre-check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28"/>
          <p:cNvSpPr/>
          <p:nvPr/>
        </p:nvSpPr>
        <p:spPr>
          <a:xfrm>
            <a:off x="2587752" y="1371600"/>
            <a:ext cx="2267712" cy="502920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68" name="Google Shape;268;p28"/>
          <p:cNvSpPr txBox="1"/>
          <p:nvPr/>
        </p:nvSpPr>
        <p:spPr>
          <a:xfrm>
            <a:off x="2660904" y="1389888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 2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9" name="Google Shape;269;p28"/>
          <p:cNvSpPr txBox="1"/>
          <p:nvPr/>
        </p:nvSpPr>
        <p:spPr>
          <a:xfrm>
            <a:off x="2660904" y="1627632"/>
            <a:ext cx="2103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Exploration (EDA)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0" name="Google Shape;270;p28"/>
          <p:cNvSpPr/>
          <p:nvPr/>
        </p:nvSpPr>
        <p:spPr>
          <a:xfrm>
            <a:off x="2587752" y="1920240"/>
            <a:ext cx="2267712" cy="40690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E8F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1" name="Google Shape;271;p28"/>
          <p:cNvSpPr txBox="1"/>
          <p:nvPr/>
        </p:nvSpPr>
        <p:spPr>
          <a:xfrm>
            <a:off x="2697480" y="2011680"/>
            <a:ext cx="2029968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Histograms per variable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Scatter plots + OLS lines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Pearson heatmap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Time-series line charts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2" name="Google Shape;272;p28"/>
          <p:cNvSpPr/>
          <p:nvPr/>
        </p:nvSpPr>
        <p:spPr>
          <a:xfrm>
            <a:off x="4992624" y="1371600"/>
            <a:ext cx="2267712" cy="502920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3" name="Google Shape;273;p28"/>
          <p:cNvSpPr txBox="1"/>
          <p:nvPr/>
        </p:nvSpPr>
        <p:spPr>
          <a:xfrm>
            <a:off x="5065776" y="1389888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 3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4" name="Google Shape;274;p28"/>
          <p:cNvSpPr txBox="1"/>
          <p:nvPr/>
        </p:nvSpPr>
        <p:spPr>
          <a:xfrm>
            <a:off x="5065776" y="1627632"/>
            <a:ext cx="2103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Segmentation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5" name="Google Shape;275;p28"/>
          <p:cNvSpPr/>
          <p:nvPr/>
        </p:nvSpPr>
        <p:spPr>
          <a:xfrm>
            <a:off x="4992624" y="1920240"/>
            <a:ext cx="2267712" cy="40690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E8F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6" name="Google Shape;276;p28"/>
          <p:cNvSpPr txBox="1"/>
          <p:nvPr/>
        </p:nvSpPr>
        <p:spPr>
          <a:xfrm>
            <a:off x="5102352" y="2011680"/>
            <a:ext cx="2029968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CO₂ emissions tier (3 bins)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Renewable energy tier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Composite risk score (z-sum)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Country-level means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7" name="Google Shape;277;p28"/>
          <p:cNvSpPr/>
          <p:nvPr/>
        </p:nvSpPr>
        <p:spPr>
          <a:xfrm>
            <a:off x="7397496" y="1371600"/>
            <a:ext cx="2267712" cy="502920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78" name="Google Shape;278;p28"/>
          <p:cNvSpPr txBox="1"/>
          <p:nvPr/>
        </p:nvSpPr>
        <p:spPr>
          <a:xfrm>
            <a:off x="7470648" y="1389888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 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9" name="Google Shape;279;p28"/>
          <p:cNvSpPr txBox="1"/>
          <p:nvPr/>
        </p:nvSpPr>
        <p:spPr>
          <a:xfrm>
            <a:off x="7470648" y="1627632"/>
            <a:ext cx="2103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Hypothesis Testing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0" name="Google Shape;280;p28"/>
          <p:cNvSpPr/>
          <p:nvPr/>
        </p:nvSpPr>
        <p:spPr>
          <a:xfrm>
            <a:off x="7397496" y="1920240"/>
            <a:ext cx="2267712" cy="40690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E8F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1" name="Google Shape;281;p28"/>
          <p:cNvSpPr txBox="1"/>
          <p:nvPr/>
        </p:nvSpPr>
        <p:spPr>
          <a:xfrm>
            <a:off x="7507223" y="2011680"/>
            <a:ext cx="2029968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Pearson + Spearman r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Welch t-test (unequal var)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One-way ANOVA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OLS linear regression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2" name="Google Shape;282;p28"/>
          <p:cNvSpPr/>
          <p:nvPr/>
        </p:nvSpPr>
        <p:spPr>
          <a:xfrm>
            <a:off x="9802367" y="1371600"/>
            <a:ext cx="2267712" cy="502920"/>
          </a:xfrm>
          <a:prstGeom prst="rect">
            <a:avLst/>
          </a:prstGeom>
          <a:solidFill>
            <a:srgbClr val="27AE60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3" name="Google Shape;283;p28"/>
          <p:cNvSpPr txBox="1"/>
          <p:nvPr/>
        </p:nvSpPr>
        <p:spPr>
          <a:xfrm>
            <a:off x="9875519" y="1389888"/>
            <a:ext cx="210312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1" i="0" lang="en-US" sz="1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Layer 5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4" name="Google Shape;284;p28"/>
          <p:cNvSpPr txBox="1"/>
          <p:nvPr/>
        </p:nvSpPr>
        <p:spPr>
          <a:xfrm>
            <a:off x="9875519" y="1627632"/>
            <a:ext cx="2103120" cy="219456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Unsupervised Validation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5" name="Google Shape;285;p28"/>
          <p:cNvSpPr/>
          <p:nvPr/>
        </p:nvSpPr>
        <p:spPr>
          <a:xfrm>
            <a:off x="9802367" y="1920240"/>
            <a:ext cx="2267712" cy="406908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E8F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86" name="Google Shape;286;p28"/>
          <p:cNvSpPr txBox="1"/>
          <p:nvPr/>
        </p:nvSpPr>
        <p:spPr>
          <a:xfrm>
            <a:off x="9912095" y="2011680"/>
            <a:ext cx="2029968" cy="384048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KMeans k=4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Standardized features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No labels supplied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1250"/>
              <a:buFont typeface="Arial"/>
              <a:buNone/>
            </a:pPr>
            <a:r>
              <a:rPr b="0" i="0" lang="en-US" sz="125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Cluster profiles vs. hypotheses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7" name="Google Shape;287;p28"/>
          <p:cNvSpPr txBox="1"/>
          <p:nvPr/>
        </p:nvSpPr>
        <p:spPr>
          <a:xfrm>
            <a:off x="274320" y="6199632"/>
            <a:ext cx="11612880" cy="3200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1" lang="en-US" sz="11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All hypothesis tests: α = 0.10  |  Both Pearson and Spearman run for every correlation hypothesis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29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2F6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3" name="Google Shape;293;p29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4" name="Google Shape;294;p29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Results — EDA &amp; Correlation Analysis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29"/>
          <p:cNvSpPr txBox="1"/>
          <p:nvPr/>
        </p:nvSpPr>
        <p:spPr>
          <a:xfrm>
            <a:off x="320040" y="713232"/>
            <a:ext cx="11430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Heatmap-guided hypothesis focus confirmed by scatter regression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6" name="Google Shape;296;p29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7" name="Google Shape;297;p29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98" name="Google Shape;298;p29"/>
          <p:cNvSpPr txBox="1"/>
          <p:nvPr/>
        </p:nvSpPr>
        <p:spPr>
          <a:xfrm>
            <a:off x="228605" y="6638555"/>
            <a:ext cx="11795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Data-Driven Analysis of Climate Change Indicators  |  CSUB &amp; AVC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ig1_heatmap.png" id="299" name="Google Shape;299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0" y="1325880"/>
            <a:ext cx="5303520" cy="3804699"/>
          </a:xfrm>
          <a:prstGeom prst="rect">
            <a:avLst/>
          </a:prstGeom>
          <a:noFill/>
          <a:ln>
            <a:noFill/>
          </a:ln>
        </p:spPr>
      </p:pic>
      <p:sp>
        <p:nvSpPr>
          <p:cNvPr id="300" name="Google Shape;300;p29"/>
          <p:cNvSpPr txBox="1"/>
          <p:nvPr/>
        </p:nvSpPr>
        <p:spPr>
          <a:xfrm>
            <a:off x="274383" y="5061273"/>
            <a:ext cx="5303400" cy="646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900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Fig. 1 — Average CO₂ Emissions Over Time (2000–2023): The red line shows the global annual mean CO₂ across all 15 countries. The dashed trend line shows a slight upward slope of +0.032 T/cap/yr, though it is not statistically significant at α = 0.10 (p = 0.246), meaning the overall increase could be due to chance. The dotted line marks the 24-year average of 10.38 T/cap.</a:t>
            </a:r>
            <a:endParaRPr b="0" i="0" sz="1300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ig2_scatter.png" id="301" name="Google Shape;301;p2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52285" y="1221243"/>
            <a:ext cx="6035040" cy="4113773"/>
          </a:xfrm>
          <a:prstGeom prst="rect">
            <a:avLst/>
          </a:prstGeom>
          <a:noFill/>
          <a:ln>
            <a:noFill/>
          </a:ln>
        </p:spPr>
      </p:pic>
      <p:sp>
        <p:nvSpPr>
          <p:cNvPr id="302" name="Google Shape;302;p29"/>
          <p:cNvSpPr txBox="1"/>
          <p:nvPr/>
        </p:nvSpPr>
        <p:spPr>
          <a:xfrm>
            <a:off x="6153860" y="5130573"/>
            <a:ext cx="6035100" cy="507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i="1" lang="en-US" sz="9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Fig. 2 — Renewable Energy (%) vs CO₂ Emissions (Tons/Capita): Each dot represents one country-year observation, coloured by country. The dashed trend line (r = −0.09, p &lt; 0.001) confirms a small but statistically significant negative slope — countries with higher renewable energy shares tend to emit slightly less CO₂ per capita,</a:t>
            </a:r>
            <a:endParaRPr i="0" sz="1300" u="none" cap="none" strike="noStrike">
              <a:solidFill>
                <a:schemeClr val="dk1"/>
              </a:solidFill>
            </a:endParaRPr>
          </a:p>
        </p:txBody>
      </p:sp>
      <p:sp>
        <p:nvSpPr>
          <p:cNvPr id="303" name="Google Shape;303;p29"/>
          <p:cNvSpPr/>
          <p:nvPr/>
        </p:nvSpPr>
        <p:spPr>
          <a:xfrm>
            <a:off x="274325" y="5668248"/>
            <a:ext cx="11613000" cy="970200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04" name="Google Shape;304;p29"/>
          <p:cNvSpPr txBox="1"/>
          <p:nvPr/>
        </p:nvSpPr>
        <p:spPr>
          <a:xfrm>
            <a:off x="444120" y="5618317"/>
            <a:ext cx="3200400" cy="2925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1" i="0" lang="en-US" sz="13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Key Findings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5" name="Google Shape;305;p29"/>
          <p:cNvSpPr txBox="1"/>
          <p:nvPr/>
        </p:nvSpPr>
        <p:spPr>
          <a:xfrm>
            <a:off x="502920" y="5779008"/>
            <a:ext cx="11247000" cy="87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Global average CO₂ shows a slight upward trend (+0.032 T/cap/yr) — year-to-year fluctuation is large, with values ranging from 8.3 to 12.3 T/cap across the 24-year period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Scatter regression line: r = −0.09 (p &lt; 0.001) — significant at α = 0.10, confirming negative linear relationship between renewable energy and CO₂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Upward trends visible in Avg Temperature and Sea Level Rise time-series; per-country OLS shows Mexico warming significantly at +0.43°C/yr (p = 0.020, α = 0.10)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Clr>
                <a:srgbClr val="000000"/>
              </a:buClr>
              <a:buSzPts val="1150"/>
              <a:buFont typeface="Arial"/>
              <a:buNone/>
            </a:pPr>
            <a:r>
              <a:rPr b="0" i="0" lang="en-US" sz="115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•  Forest Area shows expected negative correlation with CO₂ emissions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30"/>
          <p:cNvSpPr/>
          <p:nvPr/>
        </p:nvSpPr>
        <p:spPr>
          <a:xfrm>
            <a:off x="0" y="0"/>
            <a:ext cx="12189000" cy="6858000"/>
          </a:xfrm>
          <a:prstGeom prst="rect">
            <a:avLst/>
          </a:prstGeom>
          <a:solidFill>
            <a:srgbClr val="F2F6FC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1" name="Google Shape;311;p30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2" name="Google Shape;312;p30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Results — Statistical Tests, ANOVA &amp; Clustering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3" name="Google Shape;313;p30"/>
          <p:cNvSpPr txBox="1"/>
          <p:nvPr/>
        </p:nvSpPr>
        <p:spPr>
          <a:xfrm>
            <a:off x="320040" y="713232"/>
            <a:ext cx="11430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Convergence of five independent methods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30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5" name="Google Shape;315;p30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16" name="Google Shape;316;p30"/>
          <p:cNvSpPr txBox="1"/>
          <p:nvPr/>
        </p:nvSpPr>
        <p:spPr>
          <a:xfrm>
            <a:off x="196593" y="6665980"/>
            <a:ext cx="11795700" cy="230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Data-Driven Analysis of Climate Change Indicators  |  CSUB &amp; AVC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ig3_pvalues.png" id="317" name="Google Shape;31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4325" y="1325875"/>
            <a:ext cx="6233811" cy="3044012"/>
          </a:xfrm>
          <a:prstGeom prst="rect">
            <a:avLst/>
          </a:prstGeom>
          <a:noFill/>
          <a:ln>
            <a:noFill/>
          </a:ln>
        </p:spPr>
      </p:pic>
      <p:sp>
        <p:nvSpPr>
          <p:cNvPr id="318" name="Google Shape;318;p30"/>
          <p:cNvSpPr txBox="1"/>
          <p:nvPr/>
        </p:nvSpPr>
        <p:spPr>
          <a:xfrm>
            <a:off x="320032" y="4357770"/>
            <a:ext cx="59436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Fig. 3 — Average Temperature Over Time (Q1 &amp; Q3): The left panel shows the global annual mean temperature across all 15 countries (2000–2023) with a pooled trend of +0.028°C/yr — not significant at α = 0.10 due to cross-country noise. The right panel isolates Mexico, the only country with a statistically significant warming trend at +0.426°C/yr (p = 0.020), making it the region that changed the most.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fig4_co2_country.png" id="319" name="Google Shape;319;p3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19675" y="1335025"/>
            <a:ext cx="5669277" cy="3034850"/>
          </a:xfrm>
          <a:prstGeom prst="rect">
            <a:avLst/>
          </a:prstGeom>
          <a:noFill/>
          <a:ln>
            <a:noFill/>
          </a:ln>
        </p:spPr>
      </p:pic>
      <p:sp>
        <p:nvSpPr>
          <p:cNvPr id="320" name="Google Shape;320;p30"/>
          <p:cNvSpPr txBox="1"/>
          <p:nvPr/>
        </p:nvSpPr>
        <p:spPr>
          <a:xfrm>
            <a:off x="6217795" y="4347370"/>
            <a:ext cx="5669400" cy="708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1" lang="en-US" sz="1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Fig. 4 — Mean CO₂ by Country + Top/Bottom 3 Emitter Trends: The left bar chart ranks all 15 countries by average per-capita CO₂ emissions (2000–2023); the dashed line shows the dataset mean (10.41 T/cap). The right line chart tracks the three highest emitters (UK, Indonesia, France — red tones) and three lowest (Australia, Russia, Mexico — green tones) </a:t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30"/>
          <p:cNvSpPr/>
          <p:nvPr/>
        </p:nvSpPr>
        <p:spPr>
          <a:xfrm>
            <a:off x="274320" y="5029200"/>
            <a:ext cx="11612880" cy="347472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22" name="Google Shape;322;p30"/>
          <p:cNvSpPr txBox="1"/>
          <p:nvPr/>
        </p:nvSpPr>
        <p:spPr>
          <a:xfrm>
            <a:off x="384048" y="5056632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Test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3" name="Google Shape;323;p30"/>
          <p:cNvSpPr txBox="1"/>
          <p:nvPr/>
        </p:nvSpPr>
        <p:spPr>
          <a:xfrm>
            <a:off x="2011680" y="5056632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Hypotheses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4" name="Google Shape;324;p30"/>
          <p:cNvSpPr txBox="1"/>
          <p:nvPr/>
        </p:nvSpPr>
        <p:spPr>
          <a:xfrm>
            <a:off x="6858000" y="5056632"/>
            <a:ext cx="2560320" cy="274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Result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30"/>
          <p:cNvSpPr txBox="1"/>
          <p:nvPr/>
        </p:nvSpPr>
        <p:spPr>
          <a:xfrm>
            <a:off x="4251893" y="5056632"/>
            <a:ext cx="2560200" cy="261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1" i="0" lang="en-US" sz="11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Decision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6" name="Google Shape;326;p30"/>
          <p:cNvSpPr txBox="1"/>
          <p:nvPr/>
        </p:nvSpPr>
        <p:spPr>
          <a:xfrm>
            <a:off x="384048" y="5431536"/>
            <a:ext cx="2560320" cy="23774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Welch t-test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7" name="Google Shape;327;p30"/>
          <p:cNvSpPr txBox="1"/>
          <p:nvPr/>
        </p:nvSpPr>
        <p:spPr>
          <a:xfrm>
            <a:off x="2011718" y="5427261"/>
            <a:ext cx="2560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High vs Low renewable CO₂ means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30"/>
          <p:cNvSpPr txBox="1"/>
          <p:nvPr/>
        </p:nvSpPr>
        <p:spPr>
          <a:xfrm>
            <a:off x="5117400" y="5821225"/>
            <a:ext cx="65871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Rejecting H0 means the difference in CO₂ emissions between high and low renewable energy countries is too large to be random chance — countries that invest more in renewables genuinely emit significantly less CO₂ per capita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9" name="Google Shape;329;p30"/>
          <p:cNvSpPr txBox="1"/>
          <p:nvPr/>
        </p:nvSpPr>
        <p:spPr>
          <a:xfrm>
            <a:off x="4297680" y="5431549"/>
            <a:ext cx="2560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✅ Reject H0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30"/>
          <p:cNvSpPr txBox="1"/>
          <p:nvPr/>
        </p:nvSpPr>
        <p:spPr>
          <a:xfrm>
            <a:off x="384123" y="5898182"/>
            <a:ext cx="2560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ANOVA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1" name="Google Shape;331;p30"/>
          <p:cNvSpPr txBox="1"/>
          <p:nvPr/>
        </p:nvSpPr>
        <p:spPr>
          <a:xfrm>
            <a:off x="1962642" y="5898182"/>
            <a:ext cx="2560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CO₂ emissions across 15 countries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2" name="Google Shape;332;p30"/>
          <p:cNvSpPr txBox="1"/>
          <p:nvPr/>
        </p:nvSpPr>
        <p:spPr>
          <a:xfrm>
            <a:off x="5117400" y="5333938"/>
            <a:ext cx="6769800" cy="554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Rejecting H0 means CO₂ emissions are not equal across all 15 countries — at least one country's emissions are statistically different, confirming that where you live determines how much CO₂ is emitted per person (UK highest at 12.65 T/cap, Australia lowest at 8.90 T/cap)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3" name="Google Shape;333;p30"/>
          <p:cNvSpPr txBox="1"/>
          <p:nvPr/>
        </p:nvSpPr>
        <p:spPr>
          <a:xfrm>
            <a:off x="4297668" y="5904194"/>
            <a:ext cx="2560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✅ Reject H0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30"/>
          <p:cNvSpPr txBox="1"/>
          <p:nvPr/>
        </p:nvSpPr>
        <p:spPr>
          <a:xfrm>
            <a:off x="274323" y="6259052"/>
            <a:ext cx="2560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Linear Reg.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30"/>
          <p:cNvSpPr txBox="1"/>
          <p:nvPr/>
        </p:nvSpPr>
        <p:spPr>
          <a:xfrm>
            <a:off x="1962655" y="6259052"/>
            <a:ext cx="2560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Temperature &amp; sea level trend over years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30"/>
          <p:cNvSpPr txBox="1"/>
          <p:nvPr/>
        </p:nvSpPr>
        <p:spPr>
          <a:xfrm>
            <a:off x="5117400" y="6166613"/>
            <a:ext cx="7306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Rejecting H0 means the upward slopes in temperature and sea level over time are not due to chance — both are genuinely trending upward across the dataset period, with Mexico showing the strongest warming at +0.43°C/yr (p = 0.020)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7" name="Google Shape;337;p30"/>
          <p:cNvSpPr txBox="1"/>
          <p:nvPr/>
        </p:nvSpPr>
        <p:spPr>
          <a:xfrm>
            <a:off x="4297668" y="6270252"/>
            <a:ext cx="2560200" cy="2463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</a:pPr>
            <a:r>
              <a:rPr b="0" i="0" lang="en-US" sz="10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✅ Reject H0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41" name="Shape 3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2" name="Google Shape;342;p31"/>
          <p:cNvSpPr/>
          <p:nvPr/>
        </p:nvSpPr>
        <p:spPr>
          <a:xfrm>
            <a:off x="0" y="0"/>
            <a:ext cx="12188952" cy="1188720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3" name="Google Shape;343;p31"/>
          <p:cNvSpPr txBox="1"/>
          <p:nvPr/>
        </p:nvSpPr>
        <p:spPr>
          <a:xfrm>
            <a:off x="320040" y="91440"/>
            <a:ext cx="114300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</a:pPr>
            <a:r>
              <a:rPr b="1" i="0" lang="en-US" sz="30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Conclusion &amp; Future Work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4" name="Google Shape;344;p31"/>
          <p:cNvSpPr txBox="1"/>
          <p:nvPr/>
        </p:nvSpPr>
        <p:spPr>
          <a:xfrm>
            <a:off x="320040" y="713232"/>
            <a:ext cx="11430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0" i="0" lang="en-US" sz="1500" u="none" cap="none" strike="noStrike">
                <a:solidFill>
                  <a:srgbClr val="D6E8F7"/>
                </a:solidFill>
                <a:latin typeface="Calibri"/>
                <a:ea typeface="Calibri"/>
                <a:cs typeface="Calibri"/>
                <a:sym typeface="Calibri"/>
              </a:rPr>
              <a:t>Key takeaways and next steps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31"/>
          <p:cNvSpPr/>
          <p:nvPr/>
        </p:nvSpPr>
        <p:spPr>
          <a:xfrm>
            <a:off x="0" y="1188720"/>
            <a:ext cx="12188952" cy="54864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6" name="Google Shape;346;p31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7" name="Google Shape;347;p31"/>
          <p:cNvSpPr txBox="1"/>
          <p:nvPr/>
        </p:nvSpPr>
        <p:spPr>
          <a:xfrm>
            <a:off x="182880" y="6583680"/>
            <a:ext cx="11795760" cy="2560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b="0" i="0" lang="en-US" sz="900" u="none" cap="none" strike="noStrike">
                <a:solidFill>
                  <a:srgbClr val="7F8C8D"/>
                </a:solidFill>
                <a:latin typeface="Calibri"/>
                <a:ea typeface="Calibri"/>
                <a:cs typeface="Calibri"/>
                <a:sym typeface="Calibri"/>
              </a:rPr>
              <a:t>Data-Driven Analysis of Climate Change Indicators  |  CSUB &amp; AVC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8" name="Google Shape;348;p31"/>
          <p:cNvSpPr/>
          <p:nvPr/>
        </p:nvSpPr>
        <p:spPr>
          <a:xfrm>
            <a:off x="274320" y="1371600"/>
            <a:ext cx="11612880" cy="1481328"/>
          </a:xfrm>
          <a:prstGeom prst="rect">
            <a:avLst/>
          </a:prstGeom>
          <a:solidFill>
            <a:srgbClr val="0D2B4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9" name="Google Shape;349;p31"/>
          <p:cNvSpPr txBox="1"/>
          <p:nvPr/>
        </p:nvSpPr>
        <p:spPr>
          <a:xfrm>
            <a:off x="502920" y="1417320"/>
            <a:ext cx="4572000" cy="3840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1" i="0" lang="en-US" sz="1400" u="none" cap="none" strike="noStrike">
                <a:solidFill>
                  <a:srgbClr val="27AE60"/>
                </a:solidFill>
                <a:latin typeface="Calibri"/>
                <a:ea typeface="Calibri"/>
                <a:cs typeface="Calibri"/>
                <a:sym typeface="Calibri"/>
              </a:rPr>
              <a:t>Main Conclusion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0" name="Google Shape;350;p31"/>
          <p:cNvSpPr txBox="1"/>
          <p:nvPr/>
        </p:nvSpPr>
        <p:spPr>
          <a:xfrm>
            <a:off x="502920" y="1801368"/>
            <a:ext cx="11064300" cy="892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Statistical tests are tools for finding patterns that are too small or complex to see just by looking at the data. By pairing each research question with the right test — Pearson Correlation for linear relationships, OLS Regression for trends over time, Welch's T-Test for two-group comparisons, One-Way ANOVA for comparing many groups at once, Levene's Test for changes in spread, and Multiple Linear Regression for predicting one variable from several others — we were able to move from raw numbers to evidence-</a:t>
            </a:r>
            <a:r>
              <a:rPr lang="en-US" sz="1300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based</a:t>
            </a:r>
            <a:r>
              <a:rPr b="0" i="0" lang="en-US" sz="13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 conclusions. Each test filters out random noise and tells us whether what we observe in the data is real or likely just chance.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31"/>
          <p:cNvSpPr/>
          <p:nvPr/>
        </p:nvSpPr>
        <p:spPr>
          <a:xfrm>
            <a:off x="320050" y="3017525"/>
            <a:ext cx="11567100" cy="3272100"/>
          </a:xfrm>
          <a:prstGeom prst="rect">
            <a:avLst/>
          </a:prstGeom>
          <a:solidFill>
            <a:srgbClr val="FFFFFF"/>
          </a:solidFill>
          <a:ln cap="flat" cmpd="sng" w="9525">
            <a:solidFill>
              <a:srgbClr val="D6E8F7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2" name="Google Shape;352;p31"/>
          <p:cNvSpPr txBox="1"/>
          <p:nvPr/>
        </p:nvSpPr>
        <p:spPr>
          <a:xfrm>
            <a:off x="319978" y="3197360"/>
            <a:ext cx="5760600" cy="3231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0D2B4E"/>
                </a:solidFill>
                <a:latin typeface="Calibri"/>
                <a:ea typeface="Calibri"/>
                <a:cs typeface="Calibri"/>
                <a:sym typeface="Calibri"/>
              </a:rPr>
              <a:t>Future Research </a:t>
            </a:r>
            <a:r>
              <a:rPr b="1" lang="en-US" sz="1500">
                <a:solidFill>
                  <a:srgbClr val="0D2B4E"/>
                </a:solidFill>
                <a:latin typeface="Calibri"/>
                <a:ea typeface="Calibri"/>
                <a:cs typeface="Calibri"/>
                <a:sym typeface="Calibri"/>
              </a:rPr>
              <a:t>Recommendations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31"/>
          <p:cNvSpPr/>
          <p:nvPr/>
        </p:nvSpPr>
        <p:spPr>
          <a:xfrm>
            <a:off x="338278" y="3520457"/>
            <a:ext cx="5724000" cy="27300"/>
          </a:xfrm>
          <a:prstGeom prst="rect">
            <a:avLst/>
          </a:prstGeom>
          <a:solidFill>
            <a:srgbClr val="1A579E"/>
          </a:solidFill>
          <a:ln>
            <a:noFill/>
          </a:ln>
          <a:effectLst>
            <a:outerShdw blurRad="40000" rotWithShape="0" dir="5400000" dist="23000">
              <a:srgbClr val="00000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54" name="Google Shape;354;p31"/>
          <p:cNvSpPr txBox="1"/>
          <p:nvPr/>
        </p:nvSpPr>
        <p:spPr>
          <a:xfrm>
            <a:off x="502922" y="3520450"/>
            <a:ext cx="11274300" cy="175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Run Spearman Correlation alongside Pearson — Spearman does not assume a straight-line relationship, so running both and comparing results tells us whether patterns hold regardless of the data's shape or distribution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Expand from 15 to 50+ countries and extend the time range to 1960–2023 — more records increase statistical power, meaning smaller real effects become detectable and p-values become more reliable and precise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b="0" i="0" lang="en-US" sz="1400" u="none" cap="none" strike="noStrike">
                <a:solidFill>
                  <a:srgbClr val="2C3E50"/>
                </a:solidFill>
                <a:latin typeface="Calibri"/>
                <a:ea typeface="Calibri"/>
                <a:cs typeface="Calibri"/>
                <a:sym typeface="Calibri"/>
              </a:rPr>
              <a:t>•  Collect monthly rather than annual data — annual averages smooth out seasonal spikes and extreme events; monthly data would allow time-series models like ARIMA to detect trends that are currently hidden inside the yearly average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